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7ec2a1652e43fa" /><Relationship Type="http://schemas.openxmlformats.org/officeDocument/2006/relationships/extended-properties" Target="/docProps/app.xml" Id="Rd13af2af235746b2" /><Relationship Type="http://schemas.openxmlformats.org/officeDocument/2006/relationships/officeDocument" Target="/ppt/presentation.xml" Id="R1f4601c877e241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4dd2f7ba59447e"/>
  </p:sldMasterIdLst>
  <p:notesMasterIdLst>
    <p:notesMasterId xmlns:r="http://schemas.openxmlformats.org/officeDocument/2006/relationships" r:id="Rf5590de032a1448b"/>
  </p:notesMasterIdLst>
  <p:sldIdLst>
    <p:sldId xmlns:r="http://schemas.openxmlformats.org/officeDocument/2006/relationships" id="256" r:id="R98a9ba2cac3943d2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349f2e7864760" /><Relationship Type="http://schemas.openxmlformats.org/officeDocument/2006/relationships/slideMaster" Target="/ppt/slideMasters/slideMaster1.xml" Id="Rfe4dd2f7ba59447e" /><Relationship Type="http://schemas.openxmlformats.org/officeDocument/2006/relationships/notesMaster" Target="/ppt/notesMasters/notesMaster1.xml" Id="Rf5590de032a1448b" /><Relationship Type="http://schemas.openxmlformats.org/officeDocument/2006/relationships/presProps" Target="/ppt/presProps.xml" Id="Ra0afbf31c2c64eb3" /><Relationship Type="http://schemas.openxmlformats.org/officeDocument/2006/relationships/tableStyles" Target="/ppt/tableStyles.xml" Id="R855ae3fbc75f4389" /><Relationship Type="http://schemas.openxmlformats.org/officeDocument/2006/relationships/slide" Target="/ppt/slides/slide1.xml" Id="R98a9ba2cac39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ec3b39ea454b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48bfae59824f50" /><Relationship Type="http://schemas.openxmlformats.org/officeDocument/2006/relationships/notesMaster" Target="/ppt/notesMasters/notesMaster1.xml" Id="Rca849711c0634f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/Users/zion/Developer/School/ss1-soft-skills-llm/docs/dissertation-handoff.md; /Users/zion/Developer/School/ss1-soft-skills-llm/reports/benchmark/recruitview-final-review.md; /Users/zion/Developer/School/ss1-soft-skills-llm/reports/benchmark/recruitview-paper-comparison.md. Published references: https://arxiv.org/abs/2512.00450 ; https://doi.org/10.1037/pspp0000401 ; https://doi.org/10.1016/j.dib.2022.107792 . Course requirements from the earlier Poster Highlights Summary conversation, not independently rechecked against the recording. A1 landscape single-slide poster. Names are placeholders. The three-week completion plan is a proposal, not a claim about elapsed project dates or the agreed deadline. Main model selected on validation; repeated historical test examination makes follow-up findings exploratory. No direct interview BESSI ground truth. Model 2 uses a row-level split and an assumed distributional scale adjustment. Generated chart workbook contains a literal snapshot of the three saved results series.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592287a644d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03778a5a8d410d" /><Relationship Type="http://schemas.openxmlformats.org/officeDocument/2006/relationships/slideLayout" Target="/ppt/slideLayouts/slideLayout1.xml" Id="Re2e7811a79a041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e7811a79a041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25769f7854b2d" /><Relationship Type="http://schemas.openxmlformats.org/officeDocument/2006/relationships/chart" Target="/ppt/slides/charts/chart1.xml" Id="R42ac4313928b4e4b" /><Relationship Type="http://schemas.openxmlformats.org/officeDocument/2006/relationships/notesSlide" Target="/ppt/notesSlides/notesSlide1.xml" Id="R5edfc7a31ea346d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Length only</c:v>
          </c:tx>
          <c:spPr>
            <a:solidFill xmlns:a="http://schemas.openxmlformats.org/drawingml/2006/main">
              <a:srgbClr val="A5B6C0"/>
            </a:solidFill>
          </c:spPr>
          <c:cat>
            <c:strRef>
              <c:f>'Chart Data'!$A$2:$A$3</c:f>
              <c:strCache>
                <c:ptCount val="2"/>
                <c:pt idx="0">
                  <c:v>Big Five mean</c:v>
                </c:pt>
                <c:pt idx="1">
                  <c:v>Speaking skills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0.4284</c:v>
                </c:pt>
                <c:pt idx="1">
                  <c:v>0.4685</c:v>
                </c:pt>
              </c:numCache>
            </c:numRef>
          </c:val>
        </c:ser>
        <c:ser>
          <c:idx val="1"/>
          <c:order val="1"/>
          <c:tx>
            <c:v>Audio only</c:v>
          </c:tx>
          <c:spPr>
            <a:solidFill xmlns:a="http://schemas.openxmlformats.org/drawingml/2006/main">
              <a:srgbClr val="527FAD"/>
            </a:solidFill>
          </c:spPr>
          <c:cat>
            <c:strRef>
              <c:f>'Chart Data'!$C$2:$C$3</c:f>
              <c:strCache>
                <c:ptCount val="2"/>
                <c:pt idx="0">
                  <c:v>Big Five mean</c:v>
                </c:pt>
                <c:pt idx="1">
                  <c:v>Speaking skills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0.4645</c:v>
                </c:pt>
                <c:pt idx="1">
                  <c:v>0.4825</c:v>
                </c:pt>
              </c:numCache>
            </c:numRef>
          </c:val>
        </c:ser>
        <c:ser>
          <c:idx val="2"/>
          <c:order val="2"/>
          <c:tx>
            <c:v>LLM + audio</c:v>
          </c:tx>
          <c:spPr>
            <a:solidFill xmlns:a="http://schemas.openxmlformats.org/drawingml/2006/main">
              <a:srgbClr val="087E83"/>
            </a:solidFill>
          </c:spPr>
          <c:cat>
            <c:strRef>
              <c:f>'Chart Data'!$E$2:$E$3</c:f>
              <c:strCache>
                <c:ptCount val="2"/>
                <c:pt idx="0">
                  <c:v>Big Five mean</c:v>
                </c:pt>
                <c:pt idx="1">
                  <c:v>Speaking skills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0.4518</c:v>
                </c:pt>
                <c:pt idx="1">
                  <c:v>0.4859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172E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E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EE3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>
              <a:solidFill>
                <a:srgbClr val="172E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itle">
            <a:extLst xmlns:a="http://schemas.openxmlformats.org/drawingml/2006/main">
              <a:ext uri="{FF2B5EF4-FFF2-40B4-BE49-F238E27FC236}">
                <a16:creationId xmlns:a16="http://schemas.microsoft.com/office/drawing/2014/main" id="{BE260214-E0D1-4490-AE9D-C145491A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"/>
            <a:ext cx="28575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Personality Traits and Emotion Recognition to Predict</a:t>
            </a:r>
          </a:p>
          <a:p xmlns:a="http://schemas.openxmlformats.org/drawingml/2006/main">
            <a:pPr>
              <a:defRPr sz="55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Engineering Students’ Soft Skills using applications of LLMs</a:t>
            </a:r>
          </a:p>
        </p:txBody>
      </p:sp>
      <p:sp>
        <p:nvSpPr>
          <p:cNvPr id="2" name="author">
            <a:extLst xmlns:a="http://schemas.openxmlformats.org/drawingml/2006/main">
              <a:ext uri="{FF2B5EF4-FFF2-40B4-BE49-F238E27FC236}">
                <a16:creationId xmlns:a16="http://schemas.microsoft.com/office/drawing/2014/main" id="{6EF35250-C574-4D28-92EC-4DAF052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828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Anameti Umoh     Supervisor: Dr. Sangeeta Sangeeta     MSc project, CSC-44120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4F406-9BBC-4403-BA37-60F6DFBA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855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EE3"/>
            </a:solidFill>
          </a:ln>
        </p:spPr>
      </p:sp>
      <p:sp>
        <p:nvSpPr>
          <p:cNvPr id="4" name="Background and aims">
            <a:extLst xmlns:a="http://schemas.openxmlformats.org/drawingml/2006/main">
              <a:ext uri="{FF2B5EF4-FFF2-40B4-BE49-F238E27FC236}">
                <a16:creationId xmlns:a16="http://schemas.microsoft.com/office/drawing/2014/main" id="{B7B297BF-469B-4BA9-AFE1-DB49151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890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Background and aims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2DA1A-201F-432D-8BF8-ED51F6E1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EE3"/>
            </a:solidFill>
          </a:ln>
        </p:spPr>
      </p:sp>
      <p:sp>
        <p:nvSpPr>
          <p:cNvPr id="6" name="problem">
            <a:extLst xmlns:a="http://schemas.openxmlformats.org/drawingml/2006/main">
              <a:ext uri="{FF2B5EF4-FFF2-40B4-BE49-F238E27FC236}">
                <a16:creationId xmlns:a16="http://schemas.microsoft.com/office/drawing/2014/main" id="{30417C96-AE0A-42E4-B5BF-86D44804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890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Soft skills matter in engineering education. This project investigates whether interview language and vocal delivery can support their estimation, using personality as an intermediate step.</a:t>
            </a:r>
          </a:p>
        </p:txBody>
      </p:sp>
      <p:sp>
        <p:nvSpPr>
          <p:cNvPr id="7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8DF19811-CDAC-4A05-A344-AA4D7410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57950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90E69808-FF81-4161-B209-8AF6229F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00875"/>
            <a:ext cx="890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Can LLM-derived text cues and audio characteristics predict interview ratings and support an exploratory Big Five-to-BESSI skill mapping?</a:t>
            </a:r>
          </a:p>
        </p:txBody>
      </p:sp>
      <p:sp>
        <p:nvSpPr>
          <p:cNvPr id="9" name="objectives">
            <a:extLst xmlns:a="http://schemas.openxmlformats.org/drawingml/2006/main">
              <a:ext uri="{FF2B5EF4-FFF2-40B4-BE49-F238E27FC236}">
                <a16:creationId xmlns:a16="http://schemas.microsoft.com/office/drawing/2014/main" id="{E9317DE3-A976-4C56-B970-8B7472ED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686800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10" name="objective-list">
            <a:extLst xmlns:a="http://schemas.openxmlformats.org/drawingml/2006/main">
              <a:ext uri="{FF2B5EF4-FFF2-40B4-BE49-F238E27FC236}">
                <a16:creationId xmlns:a16="http://schemas.microsoft.com/office/drawing/2014/main" id="{166D0992-C74B-4580-9199-24DEE0B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239250"/>
            <a:ext cx="8905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1. Extract structured language and audio features.</a:t>
            </a:r>
          </a:p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2. Compare predictions with simple baselines and published RecruitView results.</a:t>
            </a:r>
          </a:p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3. Evaluate a separate personality-to-skill mapping and identify its limits.</a:t>
            </a:r>
          </a:p>
        </p:txBody>
      </p:sp>
      <p:sp>
        <p:nvSpPr>
          <p:cNvPr id="11" name="research-basis">
            <a:extLst xmlns:a="http://schemas.openxmlformats.org/drawingml/2006/main">
              <a:ext uri="{FF2B5EF4-FFF2-40B4-BE49-F238E27FC236}">
                <a16:creationId xmlns:a16="http://schemas.microsoft.com/office/drawing/2014/main" id="{42D52DAA-B8F1-470B-B455-9A21707D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601450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Research basis</a:t>
            </a:r>
          </a:p>
        </p:txBody>
      </p:sp>
      <p:sp>
        <p:nvSpPr>
          <p:cNvPr id="12" name="literature">
            <a:extLst xmlns:a="http://schemas.openxmlformats.org/drawingml/2006/main">
              <a:ext uri="{FF2B5EF4-FFF2-40B4-BE49-F238E27FC236}">
                <a16:creationId xmlns:a16="http://schemas.microsoft.com/office/drawing/2014/main" id="{0238F550-44A0-47E0-8DE5-0910A6A2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53900"/>
            <a:ext cx="8905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RecruitView [1] provides interview personality and performance ratings. BESSI research [2, 3] studies related personality and skill measures. Relatedness supports testing a mapping, not assuming that personality and skills are equivalent.</a:t>
            </a:r>
          </a:p>
        </p:txBody>
      </p:sp>
      <p:sp>
        <p:nvSpPr>
          <p:cNvPr id="13" name="data">
            <a:extLst xmlns:a="http://schemas.openxmlformats.org/drawingml/2006/main">
              <a:ext uri="{FF2B5EF4-FFF2-40B4-BE49-F238E27FC236}">
                <a16:creationId xmlns:a16="http://schemas.microsoft.com/office/drawing/2014/main" id="{FDAC2995-9265-4A1E-8238-70023FCA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0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4" name="data-detail">
            <a:extLst xmlns:a="http://schemas.openxmlformats.org/drawingml/2006/main">
              <a:ext uri="{FF2B5EF4-FFF2-40B4-BE49-F238E27FC236}">
                <a16:creationId xmlns:a16="http://schemas.microsoft.com/office/drawing/2014/main" id="{9E8890B7-6A12-43CD-B90F-B59DF159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30450"/>
            <a:ext cx="890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RecruitView: 1,998 responses, 331 people.</a:t>
            </a:r>
          </a:p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Paired Big Five/BESSI data: 313 usable rows.</a:t>
            </a:r>
          </a:p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No visual features in the final model.</a:t>
            </a:r>
          </a:p>
        </p:txBody>
      </p:sp>
      <p:sp>
        <p:nvSpPr>
          <p:cNvPr id="15" name="Method and evaluation">
            <a:extLst xmlns:a="http://schemas.openxmlformats.org/drawingml/2006/main">
              <a:ext uri="{FF2B5EF4-FFF2-40B4-BE49-F238E27FC236}">
                <a16:creationId xmlns:a16="http://schemas.microsoft.com/office/drawing/2014/main" id="{3ACD77BD-8DD8-4FCC-BCC4-6E75B525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52850"/>
            <a:ext cx="890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Method and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DB5A4-16A1-49C5-8793-1658E662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00550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EE3"/>
            </a:solidFill>
          </a:ln>
        </p:spPr>
      </p:sp>
      <p:sp>
        <p:nvSpPr>
          <p:cNvPr id="17" name="interview">
            <a:extLst xmlns:a="http://schemas.openxmlformats.org/drawingml/2006/main">
              <a:ext uri="{FF2B5EF4-FFF2-40B4-BE49-F238E27FC236}">
                <a16:creationId xmlns:a16="http://schemas.microsoft.com/office/drawing/2014/main" id="{B9917984-02B9-466E-AF36-F0E9285B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0"/>
            <a:ext cx="771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087E83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RecruitView interviews</a:t>
            </a:r>
          </a:p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Transcript and audio</a:t>
            </a:r>
          </a:p>
        </p:txBody>
      </p:sp>
      <p:sp>
        <p:nvSpPr>
          <p:cNvPr id="18" name="features">
            <a:extLst xmlns:a="http://schemas.openxmlformats.org/drawingml/2006/main">
              <a:ext uri="{FF2B5EF4-FFF2-40B4-BE49-F238E27FC236}">
                <a16:creationId xmlns:a16="http://schemas.microsoft.com/office/drawing/2014/main" id="{C359D6BD-C7CE-44C4-8484-F36F40F6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7715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087E83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Feature extraction</a:t>
            </a:r>
          </a:p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LLM: 10 text cues, including emotional expression</a:t>
            </a:r>
          </a:p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Audio processing: 12 numeric measurements</a:t>
            </a:r>
          </a:p>
        </p:txBody>
      </p:sp>
      <p:sp>
        <p:nvSpPr>
          <p:cNvPr id="19" name="predictor">
            <a:extLst xmlns:a="http://schemas.openxmlformats.org/drawingml/2006/main">
              <a:ext uri="{FF2B5EF4-FFF2-40B4-BE49-F238E27FC236}">
                <a16:creationId xmlns:a16="http://schemas.microsoft.com/office/drawing/2014/main" id="{A9FB059D-3038-402B-9E28-9C1ED3D4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239125"/>
            <a:ext cx="7715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087E83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Model 1: Ridge regression</a:t>
            </a:r>
          </a:p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Predict Big Five ratings and speaking skills</a:t>
            </a:r>
          </a:p>
        </p:txBody>
      </p:sp>
      <p:sp>
        <p:nvSpPr>
          <p:cNvPr id="20" name="mapping">
            <a:extLst xmlns:a="http://schemas.openxmlformats.org/drawingml/2006/main">
              <a:ext uri="{FF2B5EF4-FFF2-40B4-BE49-F238E27FC236}">
                <a16:creationId xmlns:a16="http://schemas.microsoft.com/office/drawing/2014/main" id="{2599A5C7-DC59-43FB-966C-2818755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0287000"/>
            <a:ext cx="7715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087E83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Model 2: linear regression</a:t>
            </a:r>
          </a:p>
          <a:p xmlns:a="http://schemas.openxmlformats.org/drawingml/2006/main">
            <a:pPr algn="ctr">
              <a:defRPr sz="240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E40"/>
                </a:solidFill>
                <a:latin typeface="Arial"/>
                <a:ea typeface="Arial"/>
                <a:cs typeface="Arial"/>
              </a:rPr>
              <a:t>Use Big Five predictions to estimate BESSI skills</a:t>
            </a:r>
          </a:p>
        </p:txBody>
      </p:sp>
      <p:cxnSp>
        <p:nvCxnSpPr>
          <p:cNvPr id="6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5001875" y="57150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E83"/>
            </a:solidFill>
            <a:tailEnd type="triangle" w="med" len="med"/>
          </a:ln>
        </p:spPr>
      </p:cxnSp>
      <p:cxnSp>
        <p:nvCxnSpPr>
          <p:cNvPr id="68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5001875" y="7715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E83"/>
            </a:solidFill>
            <a:tail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5001875" y="9429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E83"/>
            </a:solidFill>
            <a:tailEnd type="triangle" w="med" len="med"/>
          </a:ln>
        </p:spPr>
      </p:cxnSp>
      <p:sp>
        <p:nvSpPr>
          <p:cNvPr id="24" name="mapping-link">
            <a:extLst xmlns:a="http://schemas.openxmlformats.org/drawingml/2006/main">
              <a:ext uri="{FF2B5EF4-FFF2-40B4-BE49-F238E27FC236}">
                <a16:creationId xmlns:a16="http://schemas.microsoft.com/office/drawing/2014/main" id="{D4D072BC-3F59-41D7-A315-F4F7406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57262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Big Five</a:t>
            </a:r>
          </a:p>
          <a:p xmlns:a="http://schemas.openxmlformats.org/drawingml/2006/main">
            <a:pPr>
              <a:defRPr sz="2100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predictions only</a:t>
            </a:r>
          </a:p>
        </p:txBody>
      </p:sp>
      <p:sp>
        <p:nvSpPr>
          <p:cNvPr id="25" name="separate-data">
            <a:extLst xmlns:a="http://schemas.openxmlformats.org/drawingml/2006/main">
              <a:ext uri="{FF2B5EF4-FFF2-40B4-BE49-F238E27FC236}">
                <a16:creationId xmlns:a16="http://schemas.microsoft.com/office/drawing/2014/main" id="{A69E31BE-9ED1-4FB7-A20E-E223828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1782425"/>
            <a:ext cx="8477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Model 2 learns from separate paired questionnaire data. Statistical scale adjustment connects the two models. Speaking skills remains a separate Model 1 output.</a:t>
            </a:r>
          </a:p>
        </p:txBody>
      </p:sp>
      <p:sp>
        <p:nvSpPr>
          <p:cNvPr id="26" name="why-method">
            <a:extLst xmlns:a="http://schemas.openxmlformats.org/drawingml/2006/main">
              <a:ext uri="{FF2B5EF4-FFF2-40B4-BE49-F238E27FC236}">
                <a16:creationId xmlns:a16="http://schemas.microsoft.com/office/drawing/2014/main" id="{894DF12B-903F-42C4-B6A9-59E1BC2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525500"/>
            <a:ext cx="890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Why this approach?</a:t>
            </a:r>
          </a:p>
        </p:txBody>
      </p:sp>
      <p:sp>
        <p:nvSpPr>
          <p:cNvPr id="27" name="method-reason">
            <a:extLst xmlns:a="http://schemas.openxmlformats.org/drawingml/2006/main">
              <a:ext uri="{FF2B5EF4-FFF2-40B4-BE49-F238E27FC236}">
                <a16:creationId xmlns:a16="http://schemas.microsoft.com/office/drawing/2014/main" id="{DFE37C7F-EC50-4197-B7ED-63E55919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4077950"/>
            <a:ext cx="890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LLMs turn wording into reusable numeric features. Compact regression is interpretable and limits complexity with a small sample.</a:t>
            </a:r>
          </a:p>
        </p:txBody>
      </p:sp>
      <p:sp>
        <p:nvSpPr>
          <p:cNvPr id="28" name="checks">
            <a:extLst xmlns:a="http://schemas.openxmlformats.org/drawingml/2006/main">
              <a:ext uri="{FF2B5EF4-FFF2-40B4-BE49-F238E27FC236}">
                <a16:creationId xmlns:a16="http://schemas.microsoft.com/office/drawing/2014/main" id="{696AD3C1-378B-4B92-9309-74C9CE86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373350"/>
            <a:ext cx="890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Evaluation checks</a:t>
            </a:r>
          </a:p>
        </p:txBody>
      </p:sp>
      <p:sp>
        <p:nvSpPr>
          <p:cNvPr id="29" name="checks-detail">
            <a:extLst xmlns:a="http://schemas.openxmlformats.org/drawingml/2006/main">
              <a:ext uri="{FF2B5EF4-FFF2-40B4-BE49-F238E27FC236}">
                <a16:creationId xmlns:a16="http://schemas.microsoft.com/office/drawing/2014/main" id="{0CD8B609-1E4E-4F02-8341-6862D7E1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906750"/>
            <a:ext cx="890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Keep each RecruitView participant in one split.</a:t>
            </a:r>
          </a:p>
          <a:p xmlns:a="http://schemas.openxmlformats.org/drawingml/2006/main">
            <a:pPr>
              <a:defRPr sz="2325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Choose the model on validation data. Check stability, response length and uncertainty.</a:t>
            </a:r>
          </a:p>
        </p:txBody>
      </p:sp>
      <p:sp>
        <p:nvSpPr>
          <p:cNvPr id="30" name="Results and interpretation">
            <a:extLst xmlns:a="http://schemas.openxmlformats.org/drawingml/2006/main">
              <a:ext uri="{FF2B5EF4-FFF2-40B4-BE49-F238E27FC236}">
                <a16:creationId xmlns:a16="http://schemas.microsoft.com/office/drawing/2014/main" id="{5C82AAFF-DE7C-4786-BADC-64B4AD1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3752850"/>
            <a:ext cx="890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Results and interpretation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E5714-1285-4334-BDB0-C88E0100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4400550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EE3"/>
            </a:solidFill>
          </a:ln>
        </p:spPr>
      </p:sp>
      <p:sp>
        <p:nvSpPr>
          <p:cNvPr id="32" name="chart-description">
            <a:extLst xmlns:a="http://schemas.openxmlformats.org/drawingml/2006/main">
              <a:ext uri="{FF2B5EF4-FFF2-40B4-BE49-F238E27FC236}">
                <a16:creationId xmlns:a16="http://schemas.microsoft.com/office/drawing/2014/main" id="{5261695D-B06A-46CB-ACBE-8EFF9926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4629150"/>
            <a:ext cx="890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Interview prediction: higher correlation is better</a:t>
            </a:r>
          </a:p>
        </p:txBody>
      </p:sp>
      <p:graphicFrame>
        <p:nvGraphicFramePr>
          <p:cNvPr id="79" name="Chart"/>
          <p:cNvGraphicFramePr/>
          <p:nvPr/>
        </p:nvGraphicFramePr>
        <p:xfrm>
          <a:off xmlns:a="http://schemas.openxmlformats.org/drawingml/2006/main" x="20173950" y="5181600"/>
          <a:ext xmlns:a="http://schemas.openxmlformats.org/drawingml/2006/main" cx="91440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ac4313928b4e4b"/>
          </a:graphicData>
        </a:graphic>
      </p:graphicFrame>
      <p:sp>
        <p:nvSpPr>
          <p:cNvPr id="34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74E6392-C04E-4F71-A4FB-8C3CB4A5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9544050"/>
            <a:ext cx="8905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Spearman correlation, not percentage accuracy.</a:t>
            </a:r>
          </a:p>
          <a:p xmlns:a="http://schemas.openxmlformats.org/drawingml/2006/main">
            <a:pPr>
              <a:defRPr sz="2250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Test: 292 responses from 49 participants.</a:t>
            </a:r>
          </a:p>
        </p:txBody>
      </p:sp>
      <p:sp>
        <p:nvSpPr>
          <p:cNvPr id="35" name="published">
            <a:extLst xmlns:a="http://schemas.openxmlformats.org/drawingml/2006/main">
              <a:ext uri="{FF2B5EF4-FFF2-40B4-BE49-F238E27FC236}">
                <a16:creationId xmlns:a16="http://schemas.microsoft.com/office/drawing/2014/main" id="{052EB33C-CA2D-4A86-A987-0C0092F0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0763250"/>
            <a:ext cx="890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Published paper comparison [1]</a:t>
            </a:r>
          </a:p>
        </p:txBody>
      </p:sp>
      <p:sp>
        <p:nvSpPr>
          <p:cNvPr id="36" name="paper-values">
            <a:extLst xmlns:a="http://schemas.openxmlformats.org/drawingml/2006/main">
              <a:ext uri="{FF2B5EF4-FFF2-40B4-BE49-F238E27FC236}">
                <a16:creationId xmlns:a16="http://schemas.microsoft.com/office/drawing/2014/main" id="{75EDF6A2-FFA6-480E-BED0-9A7DD55B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1287125"/>
            <a:ext cx="8905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CRMF: Big Five 0.523; speaking skills 0.595.</a:t>
            </a:r>
          </a:p>
          <a:p xmlns:a="http://schemas.openxmlformats.org/drawingml/2006/main">
            <a:pPr>
              <a:defRPr sz="2325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The paper also uses video and a different split. This is a contextual comparison, not a reproduction.</a:t>
            </a:r>
          </a:p>
        </p:txBody>
      </p:sp>
      <p:sp>
        <p:nvSpPr>
          <p:cNvPr id="37" name="bessi-result">
            <a:extLst xmlns:a="http://schemas.openxmlformats.org/drawingml/2006/main">
              <a:ext uri="{FF2B5EF4-FFF2-40B4-BE49-F238E27FC236}">
                <a16:creationId xmlns:a16="http://schemas.microsoft.com/office/drawing/2014/main" id="{199FD745-8301-4454-AD0C-6BAA593D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2934950"/>
            <a:ext cx="890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Separate BESSI mapping</a:t>
            </a:r>
          </a:p>
        </p:txBody>
      </p:sp>
      <p:sp>
        <p:nvSpPr>
          <p:cNvPr id="38" name="mapping-values">
            <a:extLst xmlns:a="http://schemas.openxmlformats.org/drawingml/2006/main">
              <a:ext uri="{FF2B5EF4-FFF2-40B4-BE49-F238E27FC236}">
                <a16:creationId xmlns:a16="http://schemas.microsoft.com/office/drawing/2014/main" id="{7ACE3194-1628-48D7-9BA5-3FA5FD59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3477875"/>
            <a:ext cx="89058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Mean R² = 0.504 on 47 test rows. Participant independence is unverified. This is not the accuracy of the full interview-to-skills pipeline.</a:t>
            </a:r>
          </a:p>
        </p:txBody>
      </p:sp>
      <p:sp>
        <p:nvSpPr>
          <p:cNvPr id="39" name="main-finding">
            <a:extLst xmlns:a="http://schemas.openxmlformats.org/drawingml/2006/main">
              <a:ext uri="{FF2B5EF4-FFF2-40B4-BE49-F238E27FC236}">
                <a16:creationId xmlns:a16="http://schemas.microsoft.com/office/drawing/2014/main" id="{04FFA543-7E89-48B3-9D6C-13B266F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5097125"/>
            <a:ext cx="890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Main finding</a:t>
            </a:r>
          </a:p>
        </p:txBody>
      </p:sp>
      <p:sp>
        <p:nvSpPr>
          <p:cNvPr id="40" name="conclusion">
            <a:extLst xmlns:a="http://schemas.openxmlformats.org/drawingml/2006/main">
              <a:ext uri="{FF2B5EF4-FFF2-40B4-BE49-F238E27FC236}">
                <a16:creationId xmlns:a16="http://schemas.microsoft.com/office/drawing/2014/main" id="{9B3DBF8B-0418-4341-9453-BDC9C94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5649575"/>
            <a:ext cx="890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The compact model predicts useful patterns. Extra benefit over response length remains uncertain: 95% intervals for the improvements include zero.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05D4F3-1F25-4708-920E-AC65E999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0"/>
            <a:ext cx="2855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EE3"/>
            </a:solidFill>
          </a:ln>
        </p:spPr>
      </p:sp>
      <p:sp>
        <p:nvSpPr>
          <p:cNvPr id="42" name="progress-heading">
            <a:extLst xmlns:a="http://schemas.openxmlformats.org/drawingml/2006/main">
              <a:ext uri="{FF2B5EF4-FFF2-40B4-BE49-F238E27FC236}">
                <a16:creationId xmlns:a16="http://schemas.microsoft.com/office/drawing/2014/main" id="{24C0C1BD-E613-4034-93BC-61F75E4C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0"/>
            <a:ext cx="1190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Progress and completion plan</a:t>
            </a:r>
          </a:p>
        </p:txBody>
      </p:sp>
      <p:sp>
        <p:nvSpPr>
          <p:cNvPr id="43" name="progress">
            <a:extLst xmlns:a="http://schemas.openxmlformats.org/drawingml/2006/main">
              <a:ext uri="{FF2B5EF4-FFF2-40B4-BE49-F238E27FC236}">
                <a16:creationId xmlns:a16="http://schemas.microsoft.com/office/drawing/2014/main" id="{3C5B29BD-540E-45D1-ABA4-7FD60B8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30875"/>
            <a:ext cx="12287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Completed: data, models, comparisons and final checks.</a:t>
            </a:r>
          </a:p>
          <a:p xmlns:a="http://schemas.openxmlformats.org/drawingml/2006/main">
            <a:pPr>
              <a:defRPr sz="225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Remaining: dissertation writing, review and submission.</a:t>
            </a:r>
          </a:p>
          <a:p xmlns:a="http://schemas.openxmlformats.org/drawingml/2006/main">
            <a:pPr>
              <a:defRPr sz="2250" b="0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40"/>
                </a:solidFill>
                <a:latin typeface="Arial"/>
                <a:ea typeface="Arial"/>
                <a:cs typeface="Arial"/>
              </a:rPr>
              <a:t>Proposed completion plan. Deadline: 16 September 2026.</a:t>
            </a:r>
          </a:p>
        </p:txBody>
      </p:sp>
      <p:graphicFrame>
        <p:nvGraphicFramePr>
          <p:cNvPr id="90" name=""/>
          <p:cNvGraphicFramePr/>
          <p:nvPr/>
        </p:nvGraphicFramePr>
        <p:xfrm>
          <a:off xmlns:a="http://schemas.openxmlformats.org/drawingml/2006/main" x="14097000" y="17811750"/>
          <a:ext xmlns:a="http://schemas.openxmlformats.org/drawingml/2006/main" cx="15306675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05675"/>
                <a:gridCol w="2667000"/>
                <a:gridCol w="2667000"/>
                <a:gridCol w="2667000"/>
              </a:tblGrid>
              <a:tr h="476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Remaining work</a:t>
                      </a:r>
                    </a:p>
                  </a:txBody>
                  <a:tcPr marL="91440" marR="91440" marT="45720" marB="45720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11–12 Sep</a:t>
                      </a:r>
                    </a:p>
                  </a:txBody>
                  <a:tcPr marL="91440" marR="91440" marT="45720" marB="45720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13–14 Sep</a:t>
                      </a:r>
                    </a:p>
                  </a:txBody>
                  <a:tcPr marL="91440" marR="91440" marT="45720" marB="45720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15–16 Sep</a:t>
                      </a:r>
                    </a:p>
                  </a:txBody>
                  <a:tcPr marL="91440" marR="91440" marT="45720" marB="45720">
                    <a:solidFill>
                      <a:srgbClr val="EAF4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Write dissertation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Seek feedback and revise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FF5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Final checks and submission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  <p:sp>
        <p:nvSpPr>
          <p:cNvPr id="45" name="limits">
            <a:extLst xmlns:a="http://schemas.openxmlformats.org/drawingml/2006/main">
              <a:ext uri="{FF2B5EF4-FFF2-40B4-BE49-F238E27FC236}">
                <a16:creationId xmlns:a16="http://schemas.microsoft.com/office/drawing/2014/main" id="{AFD4395B-8CD7-4EE8-928D-6EA906B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0"/>
            <a:ext cx="2855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Limits: no direct BESSI labels in RecruitView; emotion cues lack independent validation; engineering-student generalisation is untested.</a:t>
            </a:r>
          </a:p>
          <a:p xmlns:a="http://schemas.openxmlformats.org/drawingml/2006/main">
            <a:pPr>
              <a:defRPr sz="2025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Follow-up test analyses are exploratory. Research use only; do not use these estimates for hiring decisions.</a:t>
            </a:r>
          </a:p>
        </p:txBody>
      </p:sp>
      <p:sp>
        <p:nvSpPr>
          <p:cNvPr id="46" name="references">
            <a:extLst xmlns:a="http://schemas.openxmlformats.org/drawingml/2006/main">
              <a:ext uri="{FF2B5EF4-FFF2-40B4-BE49-F238E27FC236}">
                <a16:creationId xmlns:a16="http://schemas.microsoft.com/office/drawing/2014/main" id="{633EFE38-3CAC-414B-AEC9-2F221BA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21625"/>
            <a:ext cx="2855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[1] Gupta et al. (2025), RecruitView, arXiv:2512.00450.   [2] Soto et al. (2022), BESSI, doi:10.1037/pspp0000401.</a:t>
            </a:r>
          </a:p>
          <a:p xmlns:a="http://schemas.openxmlformats.org/drawingml/2006/main">
            <a:pPr>
              <a:defRPr sz="1650" b="0">
                <a:solidFill>
                  <a:srgbClr val="5567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6772"/>
                </a:solidFill>
                <a:latin typeface="Arial"/>
                <a:ea typeface="Arial"/>
                <a:cs typeface="Arial"/>
              </a:rPr>
              <a:t>[3] Sewell et al. (2022), Survey data of social, emotional, and behavioral skills, doi:10.1016/j.dib.2022.107792.</a:t>
            </a:r>
          </a:p>
        </p:txBody>
      </p:sp>
    </p:spTree>
    <p:extLst>
      <p:ext uri="{BB962C8B-B14F-4D97-AF65-F5344CB8AC3E}">
        <p14:creationId xmlns:p14="http://schemas.microsoft.com/office/powerpoint/2010/main" val="674277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2026-09-11T13:49:29.0190000Z</dcterms:created>
  <dcterms:modified xsi:type="dcterms:W3CDTF">2026-09-11T13:49:29.0190000Z</dcterms:modified>
</coreProperties>
</file>