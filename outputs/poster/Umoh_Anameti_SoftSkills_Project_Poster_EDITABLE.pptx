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77d6e59ff640a9" /><Relationship Type="http://schemas.openxmlformats.org/officeDocument/2006/relationships/extended-properties" Target="/docProps/app.xml" Id="R2a9e9deb20af4fa0" /><Relationship Type="http://schemas.openxmlformats.org/officeDocument/2006/relationships/officeDocument" Target="/ppt/presentation.xml" Id="R32cafc8dc243409e" /></Relationships>
</file>

<file path=ppt/presentation.xml><?xml version="1.0" encoding="utf-8"?>
<p:presentation xmlns:p="http://schemas.openxmlformats.org/presentationml/2006/main">
  <p:sldMasterIdLst>
    <p:sldMasterId xmlns:r="http://schemas.openxmlformats.org/officeDocument/2006/relationships" id="2147483648" r:id="R0ea7b93009bd4e4f"/>
  </p:sldMasterIdLst>
  <p:notesMasterIdLst>
    <p:notesMasterId xmlns:r="http://schemas.openxmlformats.org/officeDocument/2006/relationships" r:id="R0e1a2f09d9f84456"/>
  </p:notesMasterIdLst>
  <p:sldIdLst>
    <p:sldId xmlns:r="http://schemas.openxmlformats.org/officeDocument/2006/relationships" id="256" r:id="R846d29990707402b"/>
  </p:sldIdLst>
  <p:sldSz cx="30276000" cy="2138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3e5b6a95324fe6" /><Relationship Type="http://schemas.openxmlformats.org/officeDocument/2006/relationships/slideMaster" Target="/ppt/slideMasters/slideMaster1.xml" Id="R0ea7b93009bd4e4f" /><Relationship Type="http://schemas.openxmlformats.org/officeDocument/2006/relationships/notesMaster" Target="/ppt/notesMasters/notesMaster1.xml" Id="R0e1a2f09d9f84456" /><Relationship Type="http://schemas.openxmlformats.org/officeDocument/2006/relationships/presProps" Target="/ppt/presProps.xml" Id="R6d6e64024cdd4f0e" /><Relationship Type="http://schemas.openxmlformats.org/officeDocument/2006/relationships/tableStyles" Target="/ppt/tableStyles.xml" Id="R53b6e42308444cc9" /><Relationship Type="http://schemas.openxmlformats.org/officeDocument/2006/relationships/slide" Target="/ppt/slides/slide1.xml" Id="R846d2999070740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74fa2b595e45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a3ac17316a46ef" /><Relationship Type="http://schemas.openxmlformats.org/officeDocument/2006/relationships/notesMaster" Target="/ppt/notesMasters/notesMaster1.xml" Id="R5a3f4f55066a45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/Users/zion/Developer/School/ss1-soft-skills-llm/docs/dissertation-handoff.md; /Users/zion/Developer/School/ss1-soft-skills-llm/reports/benchmark/recruitview-final-review.md; /Users/zion/Developer/School/ss1-soft-skills-llm/reports/benchmark/recruitview-paper-comparison.md; Notion project plan: https://app.notion.com/p/3c7dc7f9b1cb80ccbaefc61854eafd8f?pvs=204 . Published references: https://arxiv.org/abs/2512.00450 ; https://doi.org/10.1037/pspp0000401 ; https://doi.org/10.1016/j.dib.2022.107792 . Course requirements from the earlier Poster Highlights Summary conversation, not independently rechecked against the recording. A1 landscape single-slide poster. User supplied Anameti Umoh, supervisor Dr. Sangeeta Sangeeta and deadline 16 September. Official Notion project weeks start 10 August 2026. Light grey cells show the planned Notion schedule, dark teal cells show completed work recorded by Week 5, and amber shows the current Week 6 poster/dissertation stage. The timeline marks actual progress as ahead of the original plan; exact completion dates are inferred from the dated Notion checklists and saved project artifacts. Main model selected on validation; repeated historical test examination makes follow-up findings exploratory. No direct interview BESSI ground truth. Model 2 uses a row-level split and an assumed distributional scale adjustment. Generated chart workbook contains a literal snapshot of the three saved results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df4f6e8abd45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6ceab5f35c485a" /><Relationship Type="http://schemas.openxmlformats.org/officeDocument/2006/relationships/slideLayout" Target="/ppt/slideLayouts/slideLayout1.xml" Id="Rf06ba08bbabe47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6ba08bbabe47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a12077ff3a44d0" /><Relationship Type="http://schemas.openxmlformats.org/officeDocument/2006/relationships/chart" Target="/ppt/slides/charts/chart1.xml" Id="R153fbe51e71546f2" /><Relationship Type="http://schemas.openxmlformats.org/officeDocument/2006/relationships/notesSlide" Target="/ppt/notesSlides/notesSlide1.xml" Id="R0ff328b6ae1041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Length only</c:v>
          </c:tx>
          <c:spPr>
            <a:solidFill xmlns:a="http://schemas.openxmlformats.org/drawingml/2006/main">
              <a:srgbClr val="A5B6C0"/>
            </a:solidFill>
          </c:spPr>
          <c:cat>
            <c:strRef>
              <c:f>'Chart Data'!$A$2:$A$3</c:f>
              <c:strCache>
                <c:ptCount val="2"/>
                <c:pt idx="0">
                  <c:v>Big Five mean</c:v>
                </c:pt>
                <c:pt idx="1">
                  <c:v>Speaking skills</c:v>
                </c:pt>
              </c:strCache>
            </c:strRef>
          </c:cat>
          <c:val>
            <c:numRef>
              <c:f>'Chart Data'!$B$2:$B$3</c:f>
              <c:numCache>
                <c:formatCode>0.000</c:formatCode>
                <c:ptCount val="2"/>
                <c:pt idx="0">
                  <c:v>0.4284</c:v>
                </c:pt>
                <c:pt idx="1">
                  <c:v>0.4685</c:v>
                </c:pt>
              </c:numCache>
            </c:numRef>
          </c:val>
        </c:ser>
        <c:ser>
          <c:idx val="1"/>
          <c:order val="1"/>
          <c:tx>
            <c:v>Audio only</c:v>
          </c:tx>
          <c:spPr>
            <a:solidFill xmlns:a="http://schemas.openxmlformats.org/drawingml/2006/main">
              <a:srgbClr val="527FAD"/>
            </a:solidFill>
          </c:spPr>
          <c:cat>
            <c:strRef>
              <c:f>'Chart Data'!$C$2:$C$3</c:f>
              <c:strCache>
                <c:ptCount val="2"/>
                <c:pt idx="0">
                  <c:v>Big Five mean</c:v>
                </c:pt>
                <c:pt idx="1">
                  <c:v>Speaking skills</c:v>
                </c:pt>
              </c:strCache>
            </c:strRef>
          </c:cat>
          <c:val>
            <c:numRef>
              <c:f>'Chart Data'!$D$2:$D$3</c:f>
              <c:numCache>
                <c:formatCode>0.000</c:formatCode>
                <c:ptCount val="2"/>
                <c:pt idx="0">
                  <c:v>0.4645</c:v>
                </c:pt>
                <c:pt idx="1">
                  <c:v>0.4825</c:v>
                </c:pt>
              </c:numCache>
            </c:numRef>
          </c:val>
        </c:ser>
        <c:ser>
          <c:idx val="2"/>
          <c:order val="2"/>
          <c:tx>
            <c:v>LLM + audio</c:v>
          </c:tx>
          <c:spPr>
            <a:solidFill xmlns:a="http://schemas.openxmlformats.org/drawingml/2006/main">
              <a:srgbClr val="087E83"/>
            </a:solidFill>
          </c:spPr>
          <c:cat>
            <c:strRef>
              <c:f>'Chart Data'!$E$2:$E$3</c:f>
              <c:strCache>
                <c:ptCount val="2"/>
                <c:pt idx="0">
                  <c:v>Big Five mean</c:v>
                </c:pt>
                <c:pt idx="1">
                  <c:v>Speaking skills</c:v>
                </c:pt>
              </c:strCache>
            </c:strRef>
          </c:cat>
          <c:val>
            <c:numRef>
              <c:f>'Chart Data'!$F$2:$F$3</c:f>
              <c:numCache>
                <c:formatCode>0.000</c:formatCode>
                <c:ptCount val="2"/>
                <c:pt idx="0">
                  <c:v>0.4518</c:v>
                </c:pt>
                <c:pt idx="1">
                  <c:v>0.4859</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EE3"/>
            </a:solidFill>
          </a:ln>
        </c:spPr>
        <c:txPr>
          <a:bodyPr xmlns:a="http://schemas.openxmlformats.org/drawingml/2006/main" anchorCtr="1"/>
          <a:lstStyle xmlns:a="http://schemas.openxmlformats.org/drawingml/2006/main"/>
          <a:p xmlns:a="http://schemas.openxmlformats.org/drawingml/2006/main">
            <a:pPr>
              <a:defRPr sz="2325">
                <a:solidFill>
                  <a:srgbClr val="172E40"/>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2DEE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556772"/>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2175">
              <a:solidFill>
                <a:srgbClr val="172E4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title">
            <a:extLst xmlns:a="http://schemas.openxmlformats.org/drawingml/2006/main">
              <a:ext uri="{FF2B5EF4-FFF2-40B4-BE49-F238E27FC236}">
                <a16:creationId xmlns:a16="http://schemas.microsoft.com/office/drawing/2014/main" id="{5A5C53AB-2233-455B-81D4-3DF5FED0B03A}"/>
              </a:ext>
            </a:extLst>
          </p:cNvPr>
          <p:cNvSpPr>
            <a:spLocks xmlns:a="http://schemas.openxmlformats.org/drawingml/2006/main" noGrp="1"/>
          </p:cNvSpPr>
          <p:nvPr/>
        </p:nvSpPr>
        <p:spPr>
          <a:xfrm xmlns:a="http://schemas.openxmlformats.org/drawingml/2006/main">
            <a:off x="857250" y="609600"/>
            <a:ext cx="28575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Personality Traits and Emotion Recognition to Predict</a:t>
            </a:r>
          </a:p>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Engineering Students’ Soft Skills using applications of LLMs</a:t>
            </a:r>
          </a:p>
        </p:txBody>
      </p:sp>
      <p:sp>
        <p:nvSpPr>
          <p:cNvPr id="2" name="author">
            <a:extLst xmlns:a="http://schemas.openxmlformats.org/drawingml/2006/main">
              <a:ext uri="{FF2B5EF4-FFF2-40B4-BE49-F238E27FC236}">
                <a16:creationId xmlns:a16="http://schemas.microsoft.com/office/drawing/2014/main" id="{141C2731-B7EA-4E36-9AFE-DBFC737B810A}"/>
              </a:ext>
            </a:extLst>
          </p:cNvPr>
          <p:cNvSpPr>
            <a:spLocks xmlns:a="http://schemas.openxmlformats.org/drawingml/2006/main" noGrp="1"/>
          </p:cNvSpPr>
          <p:nvPr/>
        </p:nvSpPr>
        <p:spPr>
          <a:xfrm xmlns:a="http://schemas.openxmlformats.org/drawingml/2006/main">
            <a:off x="895350" y="2705100"/>
            <a:ext cx="2828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556772"/>
                </a:solidFill>
                <a:latin typeface="Arial"/>
                <a:ea typeface="Arial"/>
                <a:cs typeface="Arial"/>
              </a:defRPr>
            </a:pPr>
            <a:r>
              <a:rPr sz="2400" b="0">
                <a:solidFill>
                  <a:srgbClr val="556772"/>
                </a:solidFill>
                <a:latin typeface="Arial"/>
                <a:ea typeface="Arial"/>
                <a:cs typeface="Arial"/>
              </a:rPr>
              <a:t>Anameti Umoh     Supervisor: Dr. Sangeeta Sangeeta     MSc project, CSC-44120</a:t>
            </a:r>
          </a:p>
        </p:txBody>
      </p:sp>
      <p:sp>
        <p:nvSpPr>
          <p:cNvPr id="3" name="">
            <a:extLst xmlns:a="http://schemas.openxmlformats.org/drawingml/2006/main">
              <a:ext uri="{FF2B5EF4-FFF2-40B4-BE49-F238E27FC236}">
                <a16:creationId xmlns:a16="http://schemas.microsoft.com/office/drawing/2014/main" id="{CC38BEA5-B217-4165-9C12-76E8DDD437FE}"/>
              </a:ext>
            </a:extLst>
          </p:cNvPr>
          <p:cNvSpPr>
            <a:spLocks xmlns:a="http://schemas.openxmlformats.org/drawingml/2006/main" noGrp="1"/>
          </p:cNvSpPr>
          <p:nvPr/>
        </p:nvSpPr>
        <p:spPr>
          <a:xfrm xmlns:a="http://schemas.openxmlformats.org/drawingml/2006/main">
            <a:off x="857250" y="333375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 name="Background and aims">
            <a:extLst xmlns:a="http://schemas.openxmlformats.org/drawingml/2006/main">
              <a:ext uri="{FF2B5EF4-FFF2-40B4-BE49-F238E27FC236}">
                <a16:creationId xmlns:a16="http://schemas.microsoft.com/office/drawing/2014/main" id="{BA53FDD0-0A03-4361-9BBD-19589FFF787B}"/>
              </a:ext>
            </a:extLst>
          </p:cNvPr>
          <p:cNvSpPr>
            <a:spLocks xmlns:a="http://schemas.openxmlformats.org/drawingml/2006/main" noGrp="1"/>
          </p:cNvSpPr>
          <p:nvPr/>
        </p:nvSpPr>
        <p:spPr>
          <a:xfrm xmlns:a="http://schemas.openxmlformats.org/drawingml/2006/main">
            <a:off x="857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Background and aims</a:t>
            </a:r>
          </a:p>
        </p:txBody>
      </p:sp>
      <p:sp>
        <p:nvSpPr>
          <p:cNvPr id="5" name="">
            <a:extLst xmlns:a="http://schemas.openxmlformats.org/drawingml/2006/main">
              <a:ext uri="{FF2B5EF4-FFF2-40B4-BE49-F238E27FC236}">
                <a16:creationId xmlns:a16="http://schemas.microsoft.com/office/drawing/2014/main" id="{AC4C0196-291A-4ACE-A97C-36733D11B598}"/>
              </a:ext>
            </a:extLst>
          </p:cNvPr>
          <p:cNvSpPr>
            <a:spLocks xmlns:a="http://schemas.openxmlformats.org/drawingml/2006/main" noGrp="1"/>
          </p:cNvSpPr>
          <p:nvPr/>
        </p:nvSpPr>
        <p:spPr>
          <a:xfrm xmlns:a="http://schemas.openxmlformats.org/drawingml/2006/main">
            <a:off x="857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6" name="problem">
            <a:extLst xmlns:a="http://schemas.openxmlformats.org/drawingml/2006/main">
              <a:ext uri="{FF2B5EF4-FFF2-40B4-BE49-F238E27FC236}">
                <a16:creationId xmlns:a16="http://schemas.microsoft.com/office/drawing/2014/main" id="{167D7726-E4DA-421D-B52D-3B136F6C1DF4}"/>
              </a:ext>
            </a:extLst>
          </p:cNvPr>
          <p:cNvSpPr>
            <a:spLocks xmlns:a="http://schemas.openxmlformats.org/drawingml/2006/main" noGrp="1"/>
          </p:cNvSpPr>
          <p:nvPr/>
        </p:nvSpPr>
        <p:spPr>
          <a:xfrm xmlns:a="http://schemas.openxmlformats.org/drawingml/2006/main">
            <a:off x="857250" y="4629150"/>
            <a:ext cx="890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Soft skills matter in engineering education. This project investigates whether interview language and vocal delivery can support their estimation, using personality as an intermediate step.</a:t>
            </a:r>
          </a:p>
        </p:txBody>
      </p:sp>
      <p:sp>
        <p:nvSpPr>
          <p:cNvPr id="7" name="research-question">
            <a:extLst xmlns:a="http://schemas.openxmlformats.org/drawingml/2006/main">
              <a:ext uri="{FF2B5EF4-FFF2-40B4-BE49-F238E27FC236}">
                <a16:creationId xmlns:a16="http://schemas.microsoft.com/office/drawing/2014/main" id="{39432705-72CC-4D8A-B18C-FBB1EDB261B6}"/>
              </a:ext>
            </a:extLst>
          </p:cNvPr>
          <p:cNvSpPr>
            <a:spLocks xmlns:a="http://schemas.openxmlformats.org/drawingml/2006/main" noGrp="1"/>
          </p:cNvSpPr>
          <p:nvPr/>
        </p:nvSpPr>
        <p:spPr>
          <a:xfrm xmlns:a="http://schemas.openxmlformats.org/drawingml/2006/main">
            <a:off x="857250" y="64579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question</a:t>
            </a:r>
          </a:p>
        </p:txBody>
      </p:sp>
      <p:sp>
        <p:nvSpPr>
          <p:cNvPr id="8" name="question">
            <a:extLst xmlns:a="http://schemas.openxmlformats.org/drawingml/2006/main">
              <a:ext uri="{FF2B5EF4-FFF2-40B4-BE49-F238E27FC236}">
                <a16:creationId xmlns:a16="http://schemas.microsoft.com/office/drawing/2014/main" id="{D61B81AC-E736-42D0-8031-239F851C68B1}"/>
              </a:ext>
            </a:extLst>
          </p:cNvPr>
          <p:cNvSpPr>
            <a:spLocks xmlns:a="http://schemas.openxmlformats.org/drawingml/2006/main" noGrp="1"/>
          </p:cNvSpPr>
          <p:nvPr/>
        </p:nvSpPr>
        <p:spPr>
          <a:xfrm xmlns:a="http://schemas.openxmlformats.org/drawingml/2006/main">
            <a:off x="857250" y="7000875"/>
            <a:ext cx="890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Can LLM-derived text cues and audio characteristics predict interview ratings and support an exploratory Big Five-to-BESSI skill mapping?</a:t>
            </a:r>
          </a:p>
        </p:txBody>
      </p:sp>
      <p:sp>
        <p:nvSpPr>
          <p:cNvPr id="9" name="objectives">
            <a:extLst xmlns:a="http://schemas.openxmlformats.org/drawingml/2006/main">
              <a:ext uri="{FF2B5EF4-FFF2-40B4-BE49-F238E27FC236}">
                <a16:creationId xmlns:a16="http://schemas.microsoft.com/office/drawing/2014/main" id="{A1D8876F-133C-4CE3-B82E-6C0F9E8D3279}"/>
              </a:ext>
            </a:extLst>
          </p:cNvPr>
          <p:cNvSpPr>
            <a:spLocks xmlns:a="http://schemas.openxmlformats.org/drawingml/2006/main" noGrp="1"/>
          </p:cNvSpPr>
          <p:nvPr/>
        </p:nvSpPr>
        <p:spPr>
          <a:xfrm xmlns:a="http://schemas.openxmlformats.org/drawingml/2006/main">
            <a:off x="857250" y="86868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Objectives</a:t>
            </a:r>
          </a:p>
        </p:txBody>
      </p:sp>
      <p:sp>
        <p:nvSpPr>
          <p:cNvPr id="10" name="objective-list">
            <a:extLst xmlns:a="http://schemas.openxmlformats.org/drawingml/2006/main">
              <a:ext uri="{FF2B5EF4-FFF2-40B4-BE49-F238E27FC236}">
                <a16:creationId xmlns:a16="http://schemas.microsoft.com/office/drawing/2014/main" id="{CA2D3B66-9CD8-43E0-BAF0-A032882497F7}"/>
              </a:ext>
            </a:extLst>
          </p:cNvPr>
          <p:cNvSpPr>
            <a:spLocks xmlns:a="http://schemas.openxmlformats.org/drawingml/2006/main" noGrp="1"/>
          </p:cNvSpPr>
          <p:nvPr/>
        </p:nvSpPr>
        <p:spPr>
          <a:xfrm xmlns:a="http://schemas.openxmlformats.org/drawingml/2006/main">
            <a:off x="857250" y="9239250"/>
            <a:ext cx="8905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1. Extract structured language and audio features.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2. Compare predictions with simple baselines and published RecruitView results.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3. Evaluate a separate personality-to-skill mapping and identify its limits.</a:t>
            </a:r>
          </a:p>
        </p:txBody>
      </p:sp>
      <p:sp>
        <p:nvSpPr>
          <p:cNvPr id="11" name="research-basis">
            <a:extLst xmlns:a="http://schemas.openxmlformats.org/drawingml/2006/main">
              <a:ext uri="{FF2B5EF4-FFF2-40B4-BE49-F238E27FC236}">
                <a16:creationId xmlns:a16="http://schemas.microsoft.com/office/drawing/2014/main" id="{C2636393-2542-4E37-98E0-014A12F254D5}"/>
              </a:ext>
            </a:extLst>
          </p:cNvPr>
          <p:cNvSpPr>
            <a:spLocks xmlns:a="http://schemas.openxmlformats.org/drawingml/2006/main" noGrp="1"/>
          </p:cNvSpPr>
          <p:nvPr/>
        </p:nvSpPr>
        <p:spPr>
          <a:xfrm xmlns:a="http://schemas.openxmlformats.org/drawingml/2006/main">
            <a:off x="857250" y="116014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basis</a:t>
            </a:r>
          </a:p>
        </p:txBody>
      </p:sp>
      <p:sp>
        <p:nvSpPr>
          <p:cNvPr id="12" name="literature">
            <a:extLst xmlns:a="http://schemas.openxmlformats.org/drawingml/2006/main">
              <a:ext uri="{FF2B5EF4-FFF2-40B4-BE49-F238E27FC236}">
                <a16:creationId xmlns:a16="http://schemas.microsoft.com/office/drawing/2014/main" id="{D9401D87-C4A1-4C87-9528-46C02EEB19E4}"/>
              </a:ext>
            </a:extLst>
          </p:cNvPr>
          <p:cNvSpPr>
            <a:spLocks xmlns:a="http://schemas.openxmlformats.org/drawingml/2006/main" noGrp="1"/>
          </p:cNvSpPr>
          <p:nvPr/>
        </p:nvSpPr>
        <p:spPr>
          <a:xfrm xmlns:a="http://schemas.openxmlformats.org/drawingml/2006/main">
            <a:off x="857250" y="12153900"/>
            <a:ext cx="890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 provides interview personality and performance ratings. BESSI research [2, 3] studies related personality and skill measures. Relatedness supports testing a mapping, not assuming that personality and skills are equivalent.</a:t>
            </a:r>
          </a:p>
        </p:txBody>
      </p:sp>
      <p:sp>
        <p:nvSpPr>
          <p:cNvPr id="13" name="data">
            <a:extLst xmlns:a="http://schemas.openxmlformats.org/drawingml/2006/main">
              <a:ext uri="{FF2B5EF4-FFF2-40B4-BE49-F238E27FC236}">
                <a16:creationId xmlns:a16="http://schemas.microsoft.com/office/drawing/2014/main" id="{826F8699-6AEC-4B49-8738-E15B69E37A26}"/>
              </a:ext>
            </a:extLst>
          </p:cNvPr>
          <p:cNvSpPr>
            <a:spLocks xmlns:a="http://schemas.openxmlformats.org/drawingml/2006/main" noGrp="1"/>
          </p:cNvSpPr>
          <p:nvPr/>
        </p:nvSpPr>
        <p:spPr>
          <a:xfrm xmlns:a="http://schemas.openxmlformats.org/drawingml/2006/main">
            <a:off x="857250" y="144780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Data</a:t>
            </a:r>
          </a:p>
        </p:txBody>
      </p:sp>
      <p:sp>
        <p:nvSpPr>
          <p:cNvPr id="14" name="data-detail">
            <a:extLst xmlns:a="http://schemas.openxmlformats.org/drawingml/2006/main">
              <a:ext uri="{FF2B5EF4-FFF2-40B4-BE49-F238E27FC236}">
                <a16:creationId xmlns:a16="http://schemas.microsoft.com/office/drawing/2014/main" id="{A7AABB62-DBFD-4F50-8607-C541C91ADBED}"/>
              </a:ext>
            </a:extLst>
          </p:cNvPr>
          <p:cNvSpPr>
            <a:spLocks xmlns:a="http://schemas.openxmlformats.org/drawingml/2006/main" noGrp="1"/>
          </p:cNvSpPr>
          <p:nvPr/>
        </p:nvSpPr>
        <p:spPr>
          <a:xfrm xmlns:a="http://schemas.openxmlformats.org/drawingml/2006/main">
            <a:off x="857250" y="15030450"/>
            <a:ext cx="890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1,998 responses, 331 people.</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Paired Big Five/BESSI data: 313 usable rows.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No visual features in the final model.</a:t>
            </a:r>
          </a:p>
        </p:txBody>
      </p:sp>
      <p:sp>
        <p:nvSpPr>
          <p:cNvPr id="15" name="Method and evaluation">
            <a:extLst xmlns:a="http://schemas.openxmlformats.org/drawingml/2006/main">
              <a:ext uri="{FF2B5EF4-FFF2-40B4-BE49-F238E27FC236}">
                <a16:creationId xmlns:a16="http://schemas.microsoft.com/office/drawing/2014/main" id="{A87842B2-7DA3-4D25-AD57-F7DAE4C72A3B}"/>
              </a:ext>
            </a:extLst>
          </p:cNvPr>
          <p:cNvSpPr>
            <a:spLocks xmlns:a="http://schemas.openxmlformats.org/drawingml/2006/main" noGrp="1"/>
          </p:cNvSpPr>
          <p:nvPr/>
        </p:nvSpPr>
        <p:spPr>
          <a:xfrm xmlns:a="http://schemas.openxmlformats.org/drawingml/2006/main">
            <a:off x="105727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Method and evaluation</a:t>
            </a:r>
          </a:p>
        </p:txBody>
      </p:sp>
      <p:sp>
        <p:nvSpPr>
          <p:cNvPr id="16" name="">
            <a:extLst xmlns:a="http://schemas.openxmlformats.org/drawingml/2006/main">
              <a:ext uri="{FF2B5EF4-FFF2-40B4-BE49-F238E27FC236}">
                <a16:creationId xmlns:a16="http://schemas.microsoft.com/office/drawing/2014/main" id="{73D4C6E2-ADCE-4642-9634-0C94B8197DA8}"/>
              </a:ext>
            </a:extLst>
          </p:cNvPr>
          <p:cNvSpPr>
            <a:spLocks xmlns:a="http://schemas.openxmlformats.org/drawingml/2006/main" noGrp="1"/>
          </p:cNvSpPr>
          <p:nvPr/>
        </p:nvSpPr>
        <p:spPr>
          <a:xfrm xmlns:a="http://schemas.openxmlformats.org/drawingml/2006/main">
            <a:off x="105727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17" name="interview">
            <a:extLst xmlns:a="http://schemas.openxmlformats.org/drawingml/2006/main">
              <a:ext uri="{FF2B5EF4-FFF2-40B4-BE49-F238E27FC236}">
                <a16:creationId xmlns:a16="http://schemas.microsoft.com/office/drawing/2014/main" id="{16F89E7B-C894-42D5-BF3C-29CDB283DBB5}"/>
              </a:ext>
            </a:extLst>
          </p:cNvPr>
          <p:cNvSpPr>
            <a:spLocks xmlns:a="http://schemas.openxmlformats.org/drawingml/2006/main" noGrp="1"/>
          </p:cNvSpPr>
          <p:nvPr/>
        </p:nvSpPr>
        <p:spPr>
          <a:xfrm xmlns:a="http://schemas.openxmlformats.org/drawingml/2006/main">
            <a:off x="11144250" y="4667250"/>
            <a:ext cx="7715250" cy="1047750"/>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RecruitView interviews</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Transcript and audio</a:t>
            </a:r>
          </a:p>
        </p:txBody>
      </p:sp>
      <p:sp>
        <p:nvSpPr>
          <p:cNvPr id="18" name="features">
            <a:extLst xmlns:a="http://schemas.openxmlformats.org/drawingml/2006/main">
              <a:ext uri="{FF2B5EF4-FFF2-40B4-BE49-F238E27FC236}">
                <a16:creationId xmlns:a16="http://schemas.microsoft.com/office/drawing/2014/main" id="{BFA1C189-F949-4DC6-A88E-B14988E16289}"/>
              </a:ext>
            </a:extLst>
          </p:cNvPr>
          <p:cNvSpPr>
            <a:spLocks xmlns:a="http://schemas.openxmlformats.org/drawingml/2006/main" noGrp="1"/>
          </p:cNvSpPr>
          <p:nvPr/>
        </p:nvSpPr>
        <p:spPr>
          <a:xfrm xmlns:a="http://schemas.openxmlformats.org/drawingml/2006/main">
            <a:off x="11144250" y="6238875"/>
            <a:ext cx="7715250" cy="147637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Feature extraction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LLM: 10 text cues, including emotional expression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Audio processing: 12 numeric measurements</a:t>
            </a:r>
          </a:p>
        </p:txBody>
      </p:sp>
      <p:sp>
        <p:nvSpPr>
          <p:cNvPr id="19" name="predictor">
            <a:extLst xmlns:a="http://schemas.openxmlformats.org/drawingml/2006/main">
              <a:ext uri="{FF2B5EF4-FFF2-40B4-BE49-F238E27FC236}">
                <a16:creationId xmlns:a16="http://schemas.microsoft.com/office/drawing/2014/main" id="{09BFE446-F3EB-416D-B594-BCB65B71C3C1}"/>
              </a:ext>
            </a:extLst>
          </p:cNvPr>
          <p:cNvSpPr>
            <a:spLocks xmlns:a="http://schemas.openxmlformats.org/drawingml/2006/main" noGrp="1"/>
          </p:cNvSpPr>
          <p:nvPr/>
        </p:nvSpPr>
        <p:spPr>
          <a:xfrm xmlns:a="http://schemas.openxmlformats.org/drawingml/2006/main">
            <a:off x="11144250" y="8239125"/>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1: regularised linear model (Ridge)</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Predict Big Five ratings and speaking skills</a:t>
            </a:r>
          </a:p>
        </p:txBody>
      </p:sp>
      <p:sp>
        <p:nvSpPr>
          <p:cNvPr id="20" name="mapping">
            <a:extLst xmlns:a="http://schemas.openxmlformats.org/drawingml/2006/main">
              <a:ext uri="{FF2B5EF4-FFF2-40B4-BE49-F238E27FC236}">
                <a16:creationId xmlns:a16="http://schemas.microsoft.com/office/drawing/2014/main" id="{7B76ECF1-485B-4B57-ADAE-7CB47C32F93B}"/>
              </a:ext>
            </a:extLst>
          </p:cNvPr>
          <p:cNvSpPr>
            <a:spLocks xmlns:a="http://schemas.openxmlformats.org/drawingml/2006/main" noGrp="1"/>
          </p:cNvSpPr>
          <p:nvPr/>
        </p:nvSpPr>
        <p:spPr>
          <a:xfrm xmlns:a="http://schemas.openxmlformats.org/drawingml/2006/main">
            <a:off x="11144250" y="10287000"/>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2: linear regression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Use Big Five predictions to estimate BESSI skills</a:t>
            </a:r>
          </a:p>
        </p:txBody>
      </p:sp>
      <p:cxnSp>
        <p:nvCxnSpPr>
          <p:cNvPr id="71" name=""/>
          <p:cNvCxnSpPr>
            <a:stCxn xmlns:a="http://schemas.openxmlformats.org/drawingml/2006/main" id="17" idx="2"/>
            <a:endCxn xmlns:a="http://schemas.openxmlformats.org/drawingml/2006/main" id="18" idx="0"/>
          </p:cNvCxnSpPr>
          <p:nvPr/>
        </p:nvCxnSpPr>
        <p:spPr>
          <a:xfrm xmlns:a="http://schemas.openxmlformats.org/drawingml/2006/main">
            <a:off x="15001875" y="571500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72" name=""/>
          <p:cNvCxnSpPr>
            <a:stCxn xmlns:a="http://schemas.openxmlformats.org/drawingml/2006/main" id="18" idx="2"/>
            <a:endCxn xmlns:a="http://schemas.openxmlformats.org/drawingml/2006/main" id="19" idx="0"/>
          </p:cNvCxnSpPr>
          <p:nvPr/>
        </p:nvCxnSpPr>
        <p:spPr>
          <a:xfrm xmlns:a="http://schemas.openxmlformats.org/drawingml/2006/main">
            <a:off x="15001875" y="771525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73" name=""/>
          <p:cNvCxnSpPr>
            <a:stCxn xmlns:a="http://schemas.openxmlformats.org/drawingml/2006/main" id="19" idx="2"/>
            <a:endCxn xmlns:a="http://schemas.openxmlformats.org/drawingml/2006/main" id="20" idx="0"/>
          </p:cNvCxnSpPr>
          <p:nvPr/>
        </p:nvCxnSpPr>
        <p:spPr>
          <a:xfrm xmlns:a="http://schemas.openxmlformats.org/drawingml/2006/main">
            <a:off x="15001875" y="9429750"/>
            <a:ext cx="0" cy="857250"/>
          </a:xfrm>
          <a:prstGeom xmlns:a="http://schemas.openxmlformats.org/drawingml/2006/main" prst="straightConnector1">
            <a:avLst/>
          </a:prstGeom>
          <a:ln xmlns:a="http://schemas.openxmlformats.org/drawingml/2006/main" w="28575">
            <a:solidFill>
              <a:srgbClr val="087E83"/>
            </a:solidFill>
            <a:tailEnd type="triangle" w="med" len="med"/>
          </a:ln>
        </p:spPr>
      </p:cxnSp>
      <p:sp>
        <p:nvSpPr>
          <p:cNvPr id="24" name="mapping-link">
            <a:extLst xmlns:a="http://schemas.openxmlformats.org/drawingml/2006/main">
              <a:ext uri="{FF2B5EF4-FFF2-40B4-BE49-F238E27FC236}">
                <a16:creationId xmlns:a16="http://schemas.microsoft.com/office/drawing/2014/main" id="{C6ACC98C-503F-4295-97B2-FCCB28A15928}"/>
              </a:ext>
            </a:extLst>
          </p:cNvPr>
          <p:cNvSpPr>
            <a:spLocks xmlns:a="http://schemas.openxmlformats.org/drawingml/2006/main" noGrp="1"/>
          </p:cNvSpPr>
          <p:nvPr/>
        </p:nvSpPr>
        <p:spPr>
          <a:xfrm xmlns:a="http://schemas.openxmlformats.org/drawingml/2006/main">
            <a:off x="15335250" y="957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Big Five</a:t>
            </a:r>
          </a:p>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predictions only</a:t>
            </a:r>
          </a:p>
        </p:txBody>
      </p:sp>
      <p:sp>
        <p:nvSpPr>
          <p:cNvPr id="25" name="separate-data">
            <a:extLst xmlns:a="http://schemas.openxmlformats.org/drawingml/2006/main">
              <a:ext uri="{FF2B5EF4-FFF2-40B4-BE49-F238E27FC236}">
                <a16:creationId xmlns:a16="http://schemas.microsoft.com/office/drawing/2014/main" id="{FDA72332-4496-4676-8CB5-64D64577EB38}"/>
              </a:ext>
            </a:extLst>
          </p:cNvPr>
          <p:cNvSpPr>
            <a:spLocks xmlns:a="http://schemas.openxmlformats.org/drawingml/2006/main" noGrp="1"/>
          </p:cNvSpPr>
          <p:nvPr/>
        </p:nvSpPr>
        <p:spPr>
          <a:xfrm xmlns:a="http://schemas.openxmlformats.org/drawingml/2006/main">
            <a:off x="10810875" y="11782425"/>
            <a:ext cx="8477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Model 2 learns from separate paired questionnaire data. Statistical scale adjustment connects the two models. Speaking skills remains a separate Model 1 output.</a:t>
            </a:r>
          </a:p>
        </p:txBody>
      </p:sp>
      <p:sp>
        <p:nvSpPr>
          <p:cNvPr id="26" name="why-method">
            <a:extLst xmlns:a="http://schemas.openxmlformats.org/drawingml/2006/main">
              <a:ext uri="{FF2B5EF4-FFF2-40B4-BE49-F238E27FC236}">
                <a16:creationId xmlns:a16="http://schemas.microsoft.com/office/drawing/2014/main" id="{7C389C96-232C-409D-8D39-D8305EDE6B0C}"/>
              </a:ext>
            </a:extLst>
          </p:cNvPr>
          <p:cNvSpPr>
            <a:spLocks xmlns:a="http://schemas.openxmlformats.org/drawingml/2006/main" noGrp="1"/>
          </p:cNvSpPr>
          <p:nvPr/>
        </p:nvSpPr>
        <p:spPr>
          <a:xfrm xmlns:a="http://schemas.openxmlformats.org/drawingml/2006/main">
            <a:off x="10572750" y="1352550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Why this model?</a:t>
            </a:r>
          </a:p>
        </p:txBody>
      </p:sp>
      <p:sp>
        <p:nvSpPr>
          <p:cNvPr id="27" name="method-reason">
            <a:extLst xmlns:a="http://schemas.openxmlformats.org/drawingml/2006/main">
              <a:ext uri="{FF2B5EF4-FFF2-40B4-BE49-F238E27FC236}">
                <a16:creationId xmlns:a16="http://schemas.microsoft.com/office/drawing/2014/main" id="{F4973993-6085-4A5A-B9BD-BFEB43B4B4A3}"/>
              </a:ext>
            </a:extLst>
          </p:cNvPr>
          <p:cNvSpPr>
            <a:spLocks xmlns:a="http://schemas.openxmlformats.org/drawingml/2006/main" noGrp="1"/>
          </p:cNvSpPr>
          <p:nvPr/>
        </p:nvSpPr>
        <p:spPr>
          <a:xfrm xmlns:a="http://schemas.openxmlformats.org/drawingml/2006/main">
            <a:off x="10572750" y="14077950"/>
            <a:ext cx="890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Ridge was selected using validation data. A gated neural follow-up did not improve Big Five and speaking skills consistently, so Ridge remains the primary model.</a:t>
            </a:r>
          </a:p>
        </p:txBody>
      </p:sp>
      <p:sp>
        <p:nvSpPr>
          <p:cNvPr id="28" name="checks">
            <a:extLst xmlns:a="http://schemas.openxmlformats.org/drawingml/2006/main">
              <a:ext uri="{FF2B5EF4-FFF2-40B4-BE49-F238E27FC236}">
                <a16:creationId xmlns:a16="http://schemas.microsoft.com/office/drawing/2014/main" id="{1DD8EA44-4E19-4A52-B6AE-D072D80BA6E2}"/>
              </a:ext>
            </a:extLst>
          </p:cNvPr>
          <p:cNvSpPr>
            <a:spLocks xmlns:a="http://schemas.openxmlformats.org/drawingml/2006/main" noGrp="1"/>
          </p:cNvSpPr>
          <p:nvPr/>
        </p:nvSpPr>
        <p:spPr>
          <a:xfrm xmlns:a="http://schemas.openxmlformats.org/drawingml/2006/main">
            <a:off x="10572750" y="153733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Evaluation checks</a:t>
            </a:r>
          </a:p>
        </p:txBody>
      </p:sp>
      <p:sp>
        <p:nvSpPr>
          <p:cNvPr id="29" name="checks-detail">
            <a:extLst xmlns:a="http://schemas.openxmlformats.org/drawingml/2006/main">
              <a:ext uri="{FF2B5EF4-FFF2-40B4-BE49-F238E27FC236}">
                <a16:creationId xmlns:a16="http://schemas.microsoft.com/office/drawing/2014/main" id="{8044EE6F-3E32-41A6-A456-149D8462FA1D}"/>
              </a:ext>
            </a:extLst>
          </p:cNvPr>
          <p:cNvSpPr>
            <a:spLocks xmlns:a="http://schemas.openxmlformats.org/drawingml/2006/main" noGrp="1"/>
          </p:cNvSpPr>
          <p:nvPr/>
        </p:nvSpPr>
        <p:spPr>
          <a:xfrm xmlns:a="http://schemas.openxmlformats.org/drawingml/2006/main">
            <a:off x="10572750" y="15906750"/>
            <a:ext cx="890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Keep each RecruitView participant in one split.</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Choose the model on validation data. Check stability, response length and uncertainty.</a:t>
            </a:r>
          </a:p>
        </p:txBody>
      </p:sp>
      <p:sp>
        <p:nvSpPr>
          <p:cNvPr id="30" name="Results and interpretation">
            <a:extLst xmlns:a="http://schemas.openxmlformats.org/drawingml/2006/main">
              <a:ext uri="{FF2B5EF4-FFF2-40B4-BE49-F238E27FC236}">
                <a16:creationId xmlns:a16="http://schemas.microsoft.com/office/drawing/2014/main" id="{0E97F970-D68B-487F-9F4B-7E2A799133E1}"/>
              </a:ext>
            </a:extLst>
          </p:cNvPr>
          <p:cNvSpPr>
            <a:spLocks xmlns:a="http://schemas.openxmlformats.org/drawingml/2006/main" noGrp="1"/>
          </p:cNvSpPr>
          <p:nvPr/>
        </p:nvSpPr>
        <p:spPr>
          <a:xfrm xmlns:a="http://schemas.openxmlformats.org/drawingml/2006/main">
            <a:off x="20288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Results and interpretation</a:t>
            </a:r>
          </a:p>
        </p:txBody>
      </p:sp>
      <p:sp>
        <p:nvSpPr>
          <p:cNvPr id="31" name="">
            <a:extLst xmlns:a="http://schemas.openxmlformats.org/drawingml/2006/main">
              <a:ext uri="{FF2B5EF4-FFF2-40B4-BE49-F238E27FC236}">
                <a16:creationId xmlns:a16="http://schemas.microsoft.com/office/drawing/2014/main" id="{C173E96B-E224-4DD9-9476-D2EB80D31804}"/>
              </a:ext>
            </a:extLst>
          </p:cNvPr>
          <p:cNvSpPr>
            <a:spLocks xmlns:a="http://schemas.openxmlformats.org/drawingml/2006/main" noGrp="1"/>
          </p:cNvSpPr>
          <p:nvPr/>
        </p:nvSpPr>
        <p:spPr>
          <a:xfrm xmlns:a="http://schemas.openxmlformats.org/drawingml/2006/main">
            <a:off x="20288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32" name="chart-description">
            <a:extLst xmlns:a="http://schemas.openxmlformats.org/drawingml/2006/main">
              <a:ext uri="{FF2B5EF4-FFF2-40B4-BE49-F238E27FC236}">
                <a16:creationId xmlns:a16="http://schemas.microsoft.com/office/drawing/2014/main" id="{0EF31133-946B-4178-B248-6A931A0D9668}"/>
              </a:ext>
            </a:extLst>
          </p:cNvPr>
          <p:cNvSpPr>
            <a:spLocks xmlns:a="http://schemas.openxmlformats.org/drawingml/2006/main" noGrp="1"/>
          </p:cNvSpPr>
          <p:nvPr/>
        </p:nvSpPr>
        <p:spPr>
          <a:xfrm xmlns:a="http://schemas.openxmlformats.org/drawingml/2006/main">
            <a:off x="20288250" y="46291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2E40"/>
                </a:solidFill>
                <a:latin typeface="Arial"/>
                <a:ea typeface="Arial"/>
                <a:cs typeface="Arial"/>
              </a:defRPr>
            </a:pPr>
            <a:r>
              <a:rPr sz="2325" b="1">
                <a:solidFill>
                  <a:srgbClr val="172E40"/>
                </a:solidFill>
                <a:latin typeface="Arial"/>
                <a:ea typeface="Arial"/>
                <a:cs typeface="Arial"/>
              </a:rPr>
              <a:t>Interview prediction: higher correlation is better</a:t>
            </a:r>
          </a:p>
        </p:txBody>
      </p:sp>
      <p:graphicFrame>
        <p:nvGraphicFramePr>
          <p:cNvPr id="83" name="Chart"/>
          <p:cNvGraphicFramePr/>
          <p:nvPr/>
        </p:nvGraphicFramePr>
        <p:xfrm>
          <a:off xmlns:a="http://schemas.openxmlformats.org/drawingml/2006/main" x="20173950" y="5181600"/>
          <a:ext xmlns:a="http://schemas.openxmlformats.org/drawingml/2006/main" cx="9144000" cy="4238625"/>
        </p:xfrm>
        <a:graphic xmlns:a="http://schemas.openxmlformats.org/drawingml/2006/main">
          <a:graphicData uri="http://schemas.openxmlformats.org/drawingml/2006/chart">
            <c:chart xmlns:r="http://schemas.openxmlformats.org/officeDocument/2006/relationships" xmlns:c="http://schemas.openxmlformats.org/drawingml/2006/chart" r:id="R153fbe51e71546f2"/>
          </a:graphicData>
        </a:graphic>
      </p:graphicFrame>
      <p:sp>
        <p:nvSpPr>
          <p:cNvPr id="34" name="metric-note">
            <a:extLst xmlns:a="http://schemas.openxmlformats.org/drawingml/2006/main">
              <a:ext uri="{FF2B5EF4-FFF2-40B4-BE49-F238E27FC236}">
                <a16:creationId xmlns:a16="http://schemas.microsoft.com/office/drawing/2014/main" id="{B704E483-8D96-467D-B44E-A6772EC2372A}"/>
              </a:ext>
            </a:extLst>
          </p:cNvPr>
          <p:cNvSpPr>
            <a:spLocks xmlns:a="http://schemas.openxmlformats.org/drawingml/2006/main" noGrp="1"/>
          </p:cNvSpPr>
          <p:nvPr/>
        </p:nvSpPr>
        <p:spPr>
          <a:xfrm xmlns:a="http://schemas.openxmlformats.org/drawingml/2006/main">
            <a:off x="20288250" y="9544050"/>
            <a:ext cx="890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Spearman correlation, not percentage accuracy.</a:t>
            </a:r>
          </a:p>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Test: 292 responses from 49 participants.</a:t>
            </a:r>
          </a:p>
        </p:txBody>
      </p:sp>
      <p:sp>
        <p:nvSpPr>
          <p:cNvPr id="35" name="published">
            <a:extLst xmlns:a="http://schemas.openxmlformats.org/drawingml/2006/main">
              <a:ext uri="{FF2B5EF4-FFF2-40B4-BE49-F238E27FC236}">
                <a16:creationId xmlns:a16="http://schemas.microsoft.com/office/drawing/2014/main" id="{F6143B3B-A21F-4F93-BBDC-7DEBA9C199D2}"/>
              </a:ext>
            </a:extLst>
          </p:cNvPr>
          <p:cNvSpPr>
            <a:spLocks xmlns:a="http://schemas.openxmlformats.org/drawingml/2006/main" noGrp="1"/>
          </p:cNvSpPr>
          <p:nvPr/>
        </p:nvSpPr>
        <p:spPr>
          <a:xfrm xmlns:a="http://schemas.openxmlformats.org/drawingml/2006/main">
            <a:off x="20288250" y="107632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Published paper comparison [1]</a:t>
            </a:r>
          </a:p>
        </p:txBody>
      </p:sp>
      <p:sp>
        <p:nvSpPr>
          <p:cNvPr id="36" name="paper-values">
            <a:extLst xmlns:a="http://schemas.openxmlformats.org/drawingml/2006/main">
              <a:ext uri="{FF2B5EF4-FFF2-40B4-BE49-F238E27FC236}">
                <a16:creationId xmlns:a16="http://schemas.microsoft.com/office/drawing/2014/main" id="{650E247A-E1E9-4CD9-9895-8970B114E76A}"/>
              </a:ext>
            </a:extLst>
          </p:cNvPr>
          <p:cNvSpPr>
            <a:spLocks xmlns:a="http://schemas.openxmlformats.org/drawingml/2006/main" noGrp="1"/>
          </p:cNvSpPr>
          <p:nvPr/>
        </p:nvSpPr>
        <p:spPr>
          <a:xfrm xmlns:a="http://schemas.openxmlformats.org/drawingml/2006/main">
            <a:off x="20288250" y="11287125"/>
            <a:ext cx="890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CRMF: Big Five 0.523; speaking skills 0.595.</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The paper also uses video and a different split. This is a contextual comparison, not a reproduction.</a:t>
            </a:r>
          </a:p>
        </p:txBody>
      </p:sp>
      <p:sp>
        <p:nvSpPr>
          <p:cNvPr id="37" name="bessi-result">
            <a:extLst xmlns:a="http://schemas.openxmlformats.org/drawingml/2006/main">
              <a:ext uri="{FF2B5EF4-FFF2-40B4-BE49-F238E27FC236}">
                <a16:creationId xmlns:a16="http://schemas.microsoft.com/office/drawing/2014/main" id="{08D9B02B-188D-4DC3-8BA1-2614D082B58D}"/>
              </a:ext>
            </a:extLst>
          </p:cNvPr>
          <p:cNvSpPr>
            <a:spLocks xmlns:a="http://schemas.openxmlformats.org/drawingml/2006/main" noGrp="1"/>
          </p:cNvSpPr>
          <p:nvPr/>
        </p:nvSpPr>
        <p:spPr>
          <a:xfrm xmlns:a="http://schemas.openxmlformats.org/drawingml/2006/main">
            <a:off x="20288250" y="129349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Separate BESSI mapping</a:t>
            </a:r>
          </a:p>
        </p:txBody>
      </p:sp>
      <p:sp>
        <p:nvSpPr>
          <p:cNvPr id="38" name="mapping-values">
            <a:extLst xmlns:a="http://schemas.openxmlformats.org/drawingml/2006/main">
              <a:ext uri="{FF2B5EF4-FFF2-40B4-BE49-F238E27FC236}">
                <a16:creationId xmlns:a16="http://schemas.microsoft.com/office/drawing/2014/main" id="{2B0BB009-05CF-4972-95AE-1812DE99C83B}"/>
              </a:ext>
            </a:extLst>
          </p:cNvPr>
          <p:cNvSpPr>
            <a:spLocks xmlns:a="http://schemas.openxmlformats.org/drawingml/2006/main" noGrp="1"/>
          </p:cNvSpPr>
          <p:nvPr/>
        </p:nvSpPr>
        <p:spPr>
          <a:xfrm xmlns:a="http://schemas.openxmlformats.org/drawingml/2006/main">
            <a:off x="20288250" y="13477875"/>
            <a:ext cx="8905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Mean R² = 0.504 on 47 test rows. Participant independence is unverified. This is not the accuracy of the full interview-to-skills pipeline.</a:t>
            </a:r>
          </a:p>
        </p:txBody>
      </p:sp>
      <p:sp>
        <p:nvSpPr>
          <p:cNvPr id="39" name="main-finding">
            <a:extLst xmlns:a="http://schemas.openxmlformats.org/drawingml/2006/main">
              <a:ext uri="{FF2B5EF4-FFF2-40B4-BE49-F238E27FC236}">
                <a16:creationId xmlns:a16="http://schemas.microsoft.com/office/drawing/2014/main" id="{35FB43A6-3A0C-4FDF-81DF-53FB224D122A}"/>
              </a:ext>
            </a:extLst>
          </p:cNvPr>
          <p:cNvSpPr>
            <a:spLocks xmlns:a="http://schemas.openxmlformats.org/drawingml/2006/main" noGrp="1"/>
          </p:cNvSpPr>
          <p:nvPr/>
        </p:nvSpPr>
        <p:spPr>
          <a:xfrm xmlns:a="http://schemas.openxmlformats.org/drawingml/2006/main">
            <a:off x="20288250" y="15097125"/>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Main finding</a:t>
            </a:r>
          </a:p>
        </p:txBody>
      </p:sp>
      <p:sp>
        <p:nvSpPr>
          <p:cNvPr id="40" name="conclusion">
            <a:extLst xmlns:a="http://schemas.openxmlformats.org/drawingml/2006/main">
              <a:ext uri="{FF2B5EF4-FFF2-40B4-BE49-F238E27FC236}">
                <a16:creationId xmlns:a16="http://schemas.microsoft.com/office/drawing/2014/main" id="{ADFAF391-057C-4C57-A330-E17B3D892730}"/>
              </a:ext>
            </a:extLst>
          </p:cNvPr>
          <p:cNvSpPr>
            <a:spLocks xmlns:a="http://schemas.openxmlformats.org/drawingml/2006/main" noGrp="1"/>
          </p:cNvSpPr>
          <p:nvPr/>
        </p:nvSpPr>
        <p:spPr>
          <a:xfrm xmlns:a="http://schemas.openxmlformats.org/drawingml/2006/main">
            <a:off x="20288250" y="15649575"/>
            <a:ext cx="890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The model finds moderate associations. However, the richer features did not clearly beat response length: the uncertainty range includes zero, so the small observed improvement may be sampling noise.</a:t>
            </a:r>
          </a:p>
        </p:txBody>
      </p:sp>
      <p:sp>
        <p:nvSpPr>
          <p:cNvPr id="41" name="">
            <a:extLst xmlns:a="http://schemas.openxmlformats.org/drawingml/2006/main">
              <a:ext uri="{FF2B5EF4-FFF2-40B4-BE49-F238E27FC236}">
                <a16:creationId xmlns:a16="http://schemas.microsoft.com/office/drawing/2014/main" id="{68A1C94D-83CE-4F2E-9079-7EE085701D2E}"/>
              </a:ext>
            </a:extLst>
          </p:cNvPr>
          <p:cNvSpPr>
            <a:spLocks xmlns:a="http://schemas.openxmlformats.org/drawingml/2006/main" noGrp="1"/>
          </p:cNvSpPr>
          <p:nvPr/>
        </p:nvSpPr>
        <p:spPr>
          <a:xfrm xmlns:a="http://schemas.openxmlformats.org/drawingml/2006/main">
            <a:off x="857250" y="1752600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2" name="progress-heading">
            <a:extLst xmlns:a="http://schemas.openxmlformats.org/drawingml/2006/main">
              <a:ext uri="{FF2B5EF4-FFF2-40B4-BE49-F238E27FC236}">
                <a16:creationId xmlns:a16="http://schemas.microsoft.com/office/drawing/2014/main" id="{78BBBB80-9BBD-4F08-905A-A70006CE32EF}"/>
              </a:ext>
            </a:extLst>
          </p:cNvPr>
          <p:cNvSpPr>
            <a:spLocks xmlns:a="http://schemas.openxmlformats.org/drawingml/2006/main" noGrp="1"/>
          </p:cNvSpPr>
          <p:nvPr/>
        </p:nvSpPr>
        <p:spPr>
          <a:xfrm xmlns:a="http://schemas.openxmlformats.org/drawingml/2006/main">
            <a:off x="857250" y="17811750"/>
            <a:ext cx="1190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87E83"/>
                </a:solidFill>
                <a:latin typeface="Arial"/>
                <a:ea typeface="Arial"/>
                <a:cs typeface="Arial"/>
              </a:defRPr>
            </a:pPr>
            <a:r>
              <a:rPr sz="2850" b="1">
                <a:solidFill>
                  <a:srgbClr val="087E83"/>
                </a:solidFill>
                <a:latin typeface="Arial"/>
                <a:ea typeface="Arial"/>
                <a:cs typeface="Arial"/>
              </a:rPr>
              <a:t>Project plan and current status</a:t>
            </a:r>
          </a:p>
        </p:txBody>
      </p:sp>
      <p:sp>
        <p:nvSpPr>
          <p:cNvPr id="43" name="progress">
            <a:extLst xmlns:a="http://schemas.openxmlformats.org/drawingml/2006/main">
              <a:ext uri="{FF2B5EF4-FFF2-40B4-BE49-F238E27FC236}">
                <a16:creationId xmlns:a16="http://schemas.microsoft.com/office/drawing/2014/main" id="{85346771-8DA2-4206-8565-4C2497904A8A}"/>
              </a:ext>
            </a:extLst>
          </p:cNvPr>
          <p:cNvSpPr>
            <a:spLocks xmlns:a="http://schemas.openxmlformats.org/drawingml/2006/main" noGrp="1"/>
          </p:cNvSpPr>
          <p:nvPr/>
        </p:nvSpPr>
        <p:spPr>
          <a:xfrm xmlns:a="http://schemas.openxmlformats.org/drawingml/2006/main">
            <a:off x="857250" y="18430875"/>
            <a:ext cx="1228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E40"/>
                </a:solidFill>
                <a:latin typeface="Arial"/>
                <a:ea typeface="Arial"/>
                <a:cs typeface="Arial"/>
              </a:defRPr>
            </a:pPr>
            <a:r>
              <a:rPr sz="2100" b="0">
                <a:solidFill>
                  <a:srgbClr val="172E40"/>
                </a:solidFill>
                <a:latin typeface="Arial"/>
                <a:ea typeface="Arial"/>
                <a:cs typeface="Arial"/>
              </a:rPr>
              <a:t>The chart shows the full 12-week project, not just poster preparation.</a:t>
            </a:r>
          </a:p>
          <a:p xmlns:a="http://schemas.openxmlformats.org/drawingml/2006/main">
            <a:pPr>
              <a:defRPr sz="2100" b="0">
                <a:solidFill>
                  <a:srgbClr val="172E40"/>
                </a:solidFill>
                <a:latin typeface="Arial"/>
                <a:ea typeface="Arial"/>
                <a:cs typeface="Arial"/>
              </a:defRPr>
            </a:pPr>
            <a:r>
              <a:rPr sz="2100" b="0">
                <a:solidFill>
                  <a:srgbClr val="172E40"/>
                </a:solidFill>
                <a:latin typeface="Arial"/>
                <a:ea typeface="Arial"/>
                <a:cs typeface="Arial"/>
              </a:rPr>
              <a:t>Current position: Week 6 (14–20 September 2026).</a:t>
            </a:r>
          </a:p>
          <a:p xmlns:a="http://schemas.openxmlformats.org/drawingml/2006/main">
            <a:pPr>
              <a:defRPr sz="2100" b="0">
                <a:solidFill>
                  <a:srgbClr val="172E40"/>
                </a:solidFill>
                <a:latin typeface="Arial"/>
                <a:ea typeface="Arial"/>
                <a:cs typeface="Arial"/>
              </a:defRPr>
            </a:pPr>
            <a:r>
              <a:rPr sz="2100" b="0">
                <a:solidFill>
                  <a:srgbClr val="172E40"/>
                </a:solidFill>
                <a:latin typeface="Arial"/>
                <a:ea typeface="Arial"/>
                <a:cs typeface="Arial"/>
              </a:rPr>
              <a:t>Completed: data, models, comparisons and final checks. Remaining: poster and dissertation work. Poster deadline: 16 September 2026.</a:t>
            </a:r>
          </a:p>
        </p:txBody>
      </p:sp>
      <p:sp>
        <p:nvSpPr>
          <p:cNvPr id="44" name="gantt-dates">
            <a:extLst xmlns:a="http://schemas.openxmlformats.org/drawingml/2006/main">
              <a:ext uri="{FF2B5EF4-FFF2-40B4-BE49-F238E27FC236}">
                <a16:creationId xmlns:a16="http://schemas.microsoft.com/office/drawing/2014/main" id="{A4C2FB89-A7EF-479F-9E04-5E0F89F83B68}"/>
              </a:ext>
            </a:extLst>
          </p:cNvPr>
          <p:cNvSpPr>
            <a:spLocks xmlns:a="http://schemas.openxmlformats.org/drawingml/2006/main" noGrp="1"/>
          </p:cNvSpPr>
          <p:nvPr/>
        </p:nvSpPr>
        <p:spPr>
          <a:xfrm xmlns:a="http://schemas.openxmlformats.org/drawingml/2006/main">
            <a:off x="14097000" y="172402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556772"/>
                </a:solidFill>
                <a:latin typeface="Arial"/>
                <a:ea typeface="Arial"/>
                <a:cs typeface="Arial"/>
              </a:defRPr>
            </a:pPr>
            <a:r>
              <a:rPr sz="1500" b="1">
                <a:solidFill>
                  <a:srgbClr val="556772"/>
                </a:solidFill>
                <a:latin typeface="Arial"/>
                <a:ea typeface="Arial"/>
                <a:cs typeface="Arial"/>
              </a:rPr>
              <a:t>Weeks start 10 August 2026</a:t>
            </a:r>
          </a:p>
        </p:txBody>
      </p:sp>
      <p:sp>
        <p:nvSpPr>
          <p:cNvPr id="45" name="gantt-legend-plan">
            <a:extLst xmlns:a="http://schemas.openxmlformats.org/drawingml/2006/main">
              <a:ext uri="{FF2B5EF4-FFF2-40B4-BE49-F238E27FC236}">
                <a16:creationId xmlns:a16="http://schemas.microsoft.com/office/drawing/2014/main" id="{55BA98C1-07E8-4B83-B207-2A58F5DDFF1B}"/>
              </a:ext>
            </a:extLst>
          </p:cNvPr>
          <p:cNvSpPr>
            <a:spLocks xmlns:a="http://schemas.openxmlformats.org/drawingml/2006/main" noGrp="1"/>
          </p:cNvSpPr>
          <p:nvPr/>
        </p:nvSpPr>
        <p:spPr>
          <a:xfrm xmlns:a="http://schemas.openxmlformats.org/drawingml/2006/main">
            <a:off x="17049750" y="17240250"/>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8791"/>
                </a:solidFill>
                <a:latin typeface="Arial"/>
                <a:ea typeface="Arial"/>
                <a:cs typeface="Arial"/>
              </a:defRPr>
            </a:pPr>
            <a:r>
              <a:rPr sz="1575" b="1">
                <a:solidFill>
                  <a:srgbClr val="7A8791"/>
                </a:solidFill>
                <a:latin typeface="Arial"/>
                <a:ea typeface="Arial"/>
                <a:cs typeface="Arial"/>
              </a:rPr>
              <a:t>Planned</a:t>
            </a:r>
          </a:p>
        </p:txBody>
      </p:sp>
      <p:sp>
        <p:nvSpPr>
          <p:cNvPr id="46" name="gantt-legend-complete">
            <a:extLst xmlns:a="http://schemas.openxmlformats.org/drawingml/2006/main">
              <a:ext uri="{FF2B5EF4-FFF2-40B4-BE49-F238E27FC236}">
                <a16:creationId xmlns:a16="http://schemas.microsoft.com/office/drawing/2014/main" id="{B8275D0F-236C-40C6-A14E-0C6353F18959}"/>
              </a:ext>
            </a:extLst>
          </p:cNvPr>
          <p:cNvSpPr>
            <a:spLocks xmlns:a="http://schemas.openxmlformats.org/drawingml/2006/main" noGrp="1"/>
          </p:cNvSpPr>
          <p:nvPr/>
        </p:nvSpPr>
        <p:spPr>
          <a:xfrm xmlns:a="http://schemas.openxmlformats.org/drawingml/2006/main">
            <a:off x="18621375" y="1724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247B7D"/>
                </a:solidFill>
                <a:latin typeface="Arial"/>
                <a:ea typeface="Arial"/>
                <a:cs typeface="Arial"/>
              </a:defRPr>
            </a:pPr>
            <a:r>
              <a:rPr sz="1575" b="1">
                <a:solidFill>
                  <a:srgbClr val="247B7D"/>
                </a:solidFill>
                <a:latin typeface="Arial"/>
                <a:ea typeface="Arial"/>
                <a:cs typeface="Arial"/>
              </a:rPr>
              <a:t>Completed</a:t>
            </a:r>
          </a:p>
        </p:txBody>
      </p:sp>
      <p:sp>
        <p:nvSpPr>
          <p:cNvPr id="47" name="gantt-legend-current">
            <a:extLst xmlns:a="http://schemas.openxmlformats.org/drawingml/2006/main">
              <a:ext uri="{FF2B5EF4-FFF2-40B4-BE49-F238E27FC236}">
                <a16:creationId xmlns:a16="http://schemas.microsoft.com/office/drawing/2014/main" id="{EC9A3156-9B55-44D5-B4F2-C3D28F01DB50}"/>
              </a:ext>
            </a:extLst>
          </p:cNvPr>
          <p:cNvSpPr>
            <a:spLocks xmlns:a="http://schemas.openxmlformats.org/drawingml/2006/main" noGrp="1"/>
          </p:cNvSpPr>
          <p:nvPr/>
        </p:nvSpPr>
        <p:spPr>
          <a:xfrm xmlns:a="http://schemas.openxmlformats.org/drawingml/2006/main">
            <a:off x="21002625" y="1724025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B97800"/>
                </a:solidFill>
                <a:latin typeface="Arial"/>
                <a:ea typeface="Arial"/>
                <a:cs typeface="Arial"/>
              </a:defRPr>
            </a:pPr>
            <a:r>
              <a:rPr sz="1575" b="1">
                <a:solidFill>
                  <a:srgbClr val="B97800"/>
                </a:solidFill>
                <a:latin typeface="Arial"/>
                <a:ea typeface="Arial"/>
                <a:cs typeface="Arial"/>
              </a:rPr>
              <a:t>Current</a:t>
            </a:r>
          </a:p>
        </p:txBody>
      </p:sp>
      <p:graphicFrame>
        <p:nvGraphicFramePr>
          <p:cNvPr id="98" name=""/>
          <p:cNvGraphicFramePr/>
          <p:nvPr/>
        </p:nvGraphicFramePr>
        <p:xfrm>
          <a:off xmlns:a="http://schemas.openxmlformats.org/drawingml/2006/main" x="14097000" y="17716500"/>
          <a:ext xmlns:a="http://schemas.openxmlformats.org/drawingml/2006/main" cx="15306675" cy="2381250"/>
        </p:xfrm>
        <a:graphic xmlns:a="http://schemas.openxmlformats.org/drawingml/2006/main">
          <a:graphicData uri="http://schemas.openxmlformats.org/drawingml/2006/table">
            <a:tbl>
              <a:tblPr/>
              <a:tblGrid>
                <a:gridCol w="5524500"/>
                <a:gridCol w="809625"/>
                <a:gridCol w="809625"/>
                <a:gridCol w="809625"/>
                <a:gridCol w="809625"/>
                <a:gridCol w="809625"/>
                <a:gridCol w="809625"/>
                <a:gridCol w="809625"/>
                <a:gridCol w="809625"/>
                <a:gridCol w="809625"/>
                <a:gridCol w="809625"/>
                <a:gridCol w="809625"/>
                <a:gridCol w="809625"/>
              </a:tblGrid>
              <a:tr h="264583">
                <a:tc>
                  <a:txBody>
                    <a:bodyPr/>
                    <a:lstStyle/>
                    <a:p>
                      <a:r>
                        <a:rPr sz="1650" b="1">
                          <a:solidFill>
                            <a:srgbClr val="172E40"/>
                          </a:solidFill>
                          <a:latin typeface="Arial"/>
                          <a:ea typeface="Arial"/>
                          <a:cs typeface="Arial"/>
                        </a:rPr>
                        <a:t>Project stage</a:t>
                      </a:r>
                    </a:p>
                  </a:txBody>
                  <a:tcPr marL="91440" marR="91440" marT="45720" marB="45720">
                    <a:solidFill>
                      <a:srgbClr val="EAF4F4"/>
                    </a:solidFill>
                  </a:tcPr>
                </a:tc>
                <a:tc>
                  <a:txBody>
                    <a:bodyPr/>
                    <a:lstStyle/>
                    <a:p>
                      <a:r>
                        <a:rPr sz="1575" b="1">
                          <a:solidFill>
                            <a:srgbClr val="172E40"/>
                          </a:solidFill>
                          <a:latin typeface="Arial"/>
                          <a:ea typeface="Arial"/>
                          <a:cs typeface="Arial"/>
                        </a:rPr>
                        <a:t>W1</a:t>
                      </a:r>
                    </a:p>
                  </a:txBody>
                  <a:tcPr marL="91440" marR="91440" marT="45720" marB="45720">
                    <a:solidFill>
                      <a:srgbClr val="EAF4F4"/>
                    </a:solidFill>
                  </a:tcPr>
                </a:tc>
                <a:tc>
                  <a:txBody>
                    <a:bodyPr/>
                    <a:lstStyle/>
                    <a:p>
                      <a:r>
                        <a:rPr sz="1575" b="1">
                          <a:solidFill>
                            <a:srgbClr val="172E40"/>
                          </a:solidFill>
                          <a:latin typeface="Arial"/>
                          <a:ea typeface="Arial"/>
                          <a:cs typeface="Arial"/>
                        </a:rPr>
                        <a:t>W2</a:t>
                      </a:r>
                    </a:p>
                  </a:txBody>
                  <a:tcPr marL="91440" marR="91440" marT="45720" marB="45720">
                    <a:solidFill>
                      <a:srgbClr val="EAF4F4"/>
                    </a:solidFill>
                  </a:tcPr>
                </a:tc>
                <a:tc>
                  <a:txBody>
                    <a:bodyPr/>
                    <a:lstStyle/>
                    <a:p>
                      <a:r>
                        <a:rPr sz="1575" b="1">
                          <a:solidFill>
                            <a:srgbClr val="172E40"/>
                          </a:solidFill>
                          <a:latin typeface="Arial"/>
                          <a:ea typeface="Arial"/>
                          <a:cs typeface="Arial"/>
                        </a:rPr>
                        <a:t>W3</a:t>
                      </a:r>
                    </a:p>
                  </a:txBody>
                  <a:tcPr marL="91440" marR="91440" marT="45720" marB="45720">
                    <a:solidFill>
                      <a:srgbClr val="EAF4F4"/>
                    </a:solidFill>
                  </a:tcPr>
                </a:tc>
                <a:tc>
                  <a:txBody>
                    <a:bodyPr/>
                    <a:lstStyle/>
                    <a:p>
                      <a:r>
                        <a:rPr sz="1575" b="1">
                          <a:solidFill>
                            <a:srgbClr val="172E40"/>
                          </a:solidFill>
                          <a:latin typeface="Arial"/>
                          <a:ea typeface="Arial"/>
                          <a:cs typeface="Arial"/>
                        </a:rPr>
                        <a:t>W4</a:t>
                      </a:r>
                    </a:p>
                  </a:txBody>
                  <a:tcPr marL="91440" marR="91440" marT="45720" marB="45720">
                    <a:solidFill>
                      <a:srgbClr val="EAF4F4"/>
                    </a:solidFill>
                  </a:tcPr>
                </a:tc>
                <a:tc>
                  <a:txBody>
                    <a:bodyPr/>
                    <a:lstStyle/>
                    <a:p>
                      <a:r>
                        <a:rPr sz="1575" b="1">
                          <a:solidFill>
                            <a:srgbClr val="172E40"/>
                          </a:solidFill>
                          <a:latin typeface="Arial"/>
                          <a:ea typeface="Arial"/>
                          <a:cs typeface="Arial"/>
                        </a:rPr>
                        <a:t>W5</a:t>
                      </a:r>
                    </a:p>
                  </a:txBody>
                  <a:tcPr marL="91440" marR="91440" marT="45720" marB="45720">
                    <a:solidFill>
                      <a:srgbClr val="EAF4F4"/>
                    </a:solidFill>
                  </a:tcPr>
                </a:tc>
                <a:tc>
                  <a:txBody>
                    <a:bodyPr/>
                    <a:lstStyle/>
                    <a:p>
                      <a:r>
                        <a:rPr sz="1575" b="1">
                          <a:solidFill>
                            <a:srgbClr val="172E40"/>
                          </a:solidFill>
                          <a:latin typeface="Arial"/>
                          <a:ea typeface="Arial"/>
                          <a:cs typeface="Arial"/>
                        </a:rPr>
                        <a:t>W6</a:t>
                      </a:r>
                    </a:p>
                  </a:txBody>
                  <a:tcPr marL="91440" marR="91440" marT="45720" marB="45720">
                    <a:solidFill>
                      <a:srgbClr val="EAF4F4"/>
                    </a:solidFill>
                  </a:tcPr>
                </a:tc>
                <a:tc>
                  <a:txBody>
                    <a:bodyPr/>
                    <a:lstStyle/>
                    <a:p>
                      <a:r>
                        <a:rPr sz="1575" b="1">
                          <a:solidFill>
                            <a:srgbClr val="172E40"/>
                          </a:solidFill>
                          <a:latin typeface="Arial"/>
                          <a:ea typeface="Arial"/>
                          <a:cs typeface="Arial"/>
                        </a:rPr>
                        <a:t>W7</a:t>
                      </a:r>
                    </a:p>
                  </a:txBody>
                  <a:tcPr marL="91440" marR="91440" marT="45720" marB="45720">
                    <a:solidFill>
                      <a:srgbClr val="EAF4F4"/>
                    </a:solidFill>
                  </a:tcPr>
                </a:tc>
                <a:tc>
                  <a:txBody>
                    <a:bodyPr/>
                    <a:lstStyle/>
                    <a:p>
                      <a:r>
                        <a:rPr sz="1575" b="1">
                          <a:solidFill>
                            <a:srgbClr val="172E40"/>
                          </a:solidFill>
                          <a:latin typeface="Arial"/>
                          <a:ea typeface="Arial"/>
                          <a:cs typeface="Arial"/>
                        </a:rPr>
                        <a:t>W8</a:t>
                      </a:r>
                    </a:p>
                  </a:txBody>
                  <a:tcPr marL="91440" marR="91440" marT="45720" marB="45720">
                    <a:solidFill>
                      <a:srgbClr val="EAF4F4"/>
                    </a:solidFill>
                  </a:tcPr>
                </a:tc>
                <a:tc>
                  <a:txBody>
                    <a:bodyPr/>
                    <a:lstStyle/>
                    <a:p>
                      <a:r>
                        <a:rPr sz="1575" b="1">
                          <a:solidFill>
                            <a:srgbClr val="172E40"/>
                          </a:solidFill>
                          <a:latin typeface="Arial"/>
                          <a:ea typeface="Arial"/>
                          <a:cs typeface="Arial"/>
                        </a:rPr>
                        <a:t>W9</a:t>
                      </a:r>
                    </a:p>
                  </a:txBody>
                  <a:tcPr marL="91440" marR="91440" marT="45720" marB="45720">
                    <a:solidFill>
                      <a:srgbClr val="EAF4F4"/>
                    </a:solidFill>
                  </a:tcPr>
                </a:tc>
                <a:tc>
                  <a:txBody>
                    <a:bodyPr/>
                    <a:lstStyle/>
                    <a:p>
                      <a:r>
                        <a:rPr sz="1575" b="1">
                          <a:solidFill>
                            <a:srgbClr val="172E40"/>
                          </a:solidFill>
                          <a:latin typeface="Arial"/>
                          <a:ea typeface="Arial"/>
                          <a:cs typeface="Arial"/>
                        </a:rPr>
                        <a:t>W10</a:t>
                      </a:r>
                    </a:p>
                  </a:txBody>
                  <a:tcPr marL="91440" marR="91440" marT="45720" marB="45720">
                    <a:solidFill>
                      <a:srgbClr val="EAF4F4"/>
                    </a:solidFill>
                  </a:tcPr>
                </a:tc>
                <a:tc>
                  <a:txBody>
                    <a:bodyPr/>
                    <a:lstStyle/>
                    <a:p>
                      <a:r>
                        <a:rPr sz="1575" b="1">
                          <a:solidFill>
                            <a:srgbClr val="172E40"/>
                          </a:solidFill>
                          <a:latin typeface="Arial"/>
                          <a:ea typeface="Arial"/>
                          <a:cs typeface="Arial"/>
                        </a:rPr>
                        <a:t>W11</a:t>
                      </a:r>
                    </a:p>
                  </a:txBody>
                  <a:tcPr marL="91440" marR="91440" marT="45720" marB="45720">
                    <a:solidFill>
                      <a:srgbClr val="EAF4F4"/>
                    </a:solidFill>
                  </a:tcPr>
                </a:tc>
                <a:tc>
                  <a:txBody>
                    <a:bodyPr/>
                    <a:lstStyle/>
                    <a:p>
                      <a:r>
                        <a:rPr sz="1575" b="1">
                          <a:solidFill>
                            <a:srgbClr val="172E40"/>
                          </a:solidFill>
                          <a:latin typeface="Arial"/>
                          <a:ea typeface="Arial"/>
                          <a:cs typeface="Arial"/>
                        </a:rPr>
                        <a:t>W12</a:t>
                      </a:r>
                    </a:p>
                  </a:txBody>
                  <a:tcPr marL="91440" marR="91440" marT="45720" marB="45720">
                    <a:solidFill>
                      <a:srgbClr val="EAF4F4"/>
                    </a:solidFill>
                  </a:tcPr>
                </a:tc>
              </a:tr>
              <a:tr h="264583">
                <a:tc>
                  <a:txBody>
                    <a:bodyPr/>
                    <a:lstStyle/>
                    <a:p>
                      <a:r>
                        <a:rPr sz="1650" b="0">
                          <a:solidFill>
                            <a:srgbClr val="172E40"/>
                          </a:solidFill>
                          <a:latin typeface="Arial"/>
                          <a:ea typeface="Arial"/>
                          <a:cs typeface="Arial"/>
                        </a:rPr>
                        <a:t>Project plan + ethics / GDPR</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Literature review + methodology</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Dataset preparation</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Model 1 benchmarking</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Big Five-to-BESSI mapping</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Integration + error propagation</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Testing + final evaluation</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4B9B9D"/>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r>
              <a:tr h="264583">
                <a:tc>
                  <a:txBody>
                    <a:bodyPr/>
                    <a:lstStyle/>
                    <a:p>
                      <a:r>
                        <a:rPr sz="1650" b="0">
                          <a:solidFill>
                            <a:srgbClr val="172E40"/>
                          </a:solidFill>
                          <a:latin typeface="Arial"/>
                          <a:ea typeface="Arial"/>
                          <a:cs typeface="Arial"/>
                        </a:rPr>
                        <a:t>Final analysis, poster + submission</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2C76E"/>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FFFFFF"/>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c>
                  <a:txBody>
                    <a:bodyPr/>
                    <a:lstStyle/>
                    <a:p>
                      <a:r>
                        <a:rPr sz="1575" b="0">
                          <a:solidFill>
                            <a:srgbClr val="172E40"/>
                          </a:solidFill>
                          <a:latin typeface="Arial"/>
                          <a:ea typeface="Arial"/>
                          <a:cs typeface="Arial"/>
                        </a:rPr>
                        <a:t/>
                      </a:r>
                    </a:p>
                  </a:txBody>
                  <a:tcPr marL="91440" marR="91440" marT="45720" marB="45720">
                    <a:solidFill>
                      <a:srgbClr val="E1E6E9"/>
                    </a:solidFill>
                  </a:tcPr>
                </a:tc>
              </a:tr>
            </a:tbl>
          </a:graphicData>
        </a:graphic>
      </p:graphicFrame>
      <p:sp>
        <p:nvSpPr>
          <p:cNvPr id="49" name="limits">
            <a:extLst xmlns:a="http://schemas.openxmlformats.org/drawingml/2006/main">
              <a:ext uri="{FF2B5EF4-FFF2-40B4-BE49-F238E27FC236}">
                <a16:creationId xmlns:a16="http://schemas.microsoft.com/office/drawing/2014/main" id="{40100286-12E7-4220-9D43-D6FD42AE8085}"/>
              </a:ext>
            </a:extLst>
          </p:cNvPr>
          <p:cNvSpPr>
            <a:spLocks xmlns:a="http://schemas.openxmlformats.org/drawingml/2006/main" noGrp="1"/>
          </p:cNvSpPr>
          <p:nvPr/>
        </p:nvSpPr>
        <p:spPr>
          <a:xfrm xmlns:a="http://schemas.openxmlformats.org/drawingml/2006/main">
            <a:off x="857250" y="20193000"/>
            <a:ext cx="1228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56772"/>
                </a:solidFill>
                <a:latin typeface="Arial"/>
                <a:ea typeface="Arial"/>
                <a:cs typeface="Arial"/>
              </a:defRPr>
            </a:pPr>
            <a:r>
              <a:rPr sz="1650" b="0">
                <a:solidFill>
                  <a:srgbClr val="556772"/>
                </a:solidFill>
                <a:latin typeface="Arial"/>
                <a:ea typeface="Arial"/>
                <a:cs typeface="Arial"/>
              </a:rPr>
              <a:t>Limits: no direct BESSI labels in RecruitView; emotion cues lack independent validation; engineering-student generalisation is untested. Follow-up test analyses are exploratory. Research use only; do not use these estimates for hiring decisions.</a:t>
            </a:r>
          </a:p>
        </p:txBody>
      </p:sp>
      <p:sp>
        <p:nvSpPr>
          <p:cNvPr id="50" name="references">
            <a:extLst xmlns:a="http://schemas.openxmlformats.org/drawingml/2006/main">
              <a:ext uri="{FF2B5EF4-FFF2-40B4-BE49-F238E27FC236}">
                <a16:creationId xmlns:a16="http://schemas.microsoft.com/office/drawing/2014/main" id="{3F219B00-2579-4E6B-BCB8-844DFDC46C63}"/>
              </a:ext>
            </a:extLst>
          </p:cNvPr>
          <p:cNvSpPr>
            <a:spLocks xmlns:a="http://schemas.openxmlformats.org/drawingml/2006/main" noGrp="1"/>
          </p:cNvSpPr>
          <p:nvPr/>
        </p:nvSpPr>
        <p:spPr>
          <a:xfrm xmlns:a="http://schemas.openxmlformats.org/drawingml/2006/main">
            <a:off x="857250" y="21002625"/>
            <a:ext cx="28555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56772"/>
                </a:solidFill>
                <a:latin typeface="Arial"/>
                <a:ea typeface="Arial"/>
                <a:cs typeface="Arial"/>
              </a:defRPr>
            </a:pPr>
            <a:r>
              <a:rPr sz="1350" b="0">
                <a:solidFill>
                  <a:srgbClr val="556772"/>
                </a:solidFill>
                <a:latin typeface="Arial"/>
                <a:ea typeface="Arial"/>
                <a:cs typeface="Arial"/>
              </a:rPr>
              <a:t>References: [1] Gupta et al. (2025), RecruitView, arXiv:2512.00450. [2] Soto et al. (2022), BESSI, doi:10.1037/pspp0000401. [3] Sewell et al. (2022), social, emotional and behavioural skills, doi:10.1016/j.dib.2022.107792.</a:t>
            </a:r>
          </a:p>
        </p:txBody>
      </p:sp>
    </p:spTree>
    <p:extLst>
      <p:ext uri="{BB962C8B-B14F-4D97-AF65-F5344CB8AC3E}">
        <p14:creationId xmlns:p14="http://schemas.microsoft.com/office/powerpoint/2010/main" val="885505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2026-09-14T08:19:25.0230000Z</dcterms:created>
  <dcterms:modified xsi:type="dcterms:W3CDTF">2026-09-14T08:19:25.0230000Z</dcterms:modified>
</coreProperties>
</file>