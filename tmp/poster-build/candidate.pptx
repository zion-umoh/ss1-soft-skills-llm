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631f468acd4d34" /><Relationship Type="http://schemas.openxmlformats.org/officeDocument/2006/relationships/extended-properties" Target="/docProps/app.xml" Id="R8df5da5610094c42" /><Relationship Type="http://schemas.openxmlformats.org/officeDocument/2006/relationships/officeDocument" Target="/ppt/presentation.xml" Id="Rb37da839cf2f4b99" /></Relationships>
</file>

<file path=ppt/presentation.xml><?xml version="1.0" encoding="utf-8"?>
<p:presentation xmlns:p="http://schemas.openxmlformats.org/presentationml/2006/main">
  <p:sldMasterIdLst>
    <p:sldMasterId xmlns:r="http://schemas.openxmlformats.org/officeDocument/2006/relationships" id="2147483648" r:id="R1791ba180c844a57"/>
  </p:sldMasterIdLst>
  <p:notesMasterIdLst>
    <p:notesMasterId xmlns:r="http://schemas.openxmlformats.org/officeDocument/2006/relationships" r:id="Rcc9f03ba20f9403b"/>
  </p:notesMasterIdLst>
  <p:sldIdLst>
    <p:sldId xmlns:r="http://schemas.openxmlformats.org/officeDocument/2006/relationships" id="256" r:id="Rb29474e8c0f14705"/>
  </p:sldIdLst>
  <p:sldSz cx="30276000" cy="21384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74600ec8ef4d14" /><Relationship Type="http://schemas.openxmlformats.org/officeDocument/2006/relationships/slideMaster" Target="/ppt/slideMasters/slideMaster1.xml" Id="R1791ba180c844a57" /><Relationship Type="http://schemas.openxmlformats.org/officeDocument/2006/relationships/notesMaster" Target="/ppt/notesMasters/notesMaster1.xml" Id="Rcc9f03ba20f9403b" /><Relationship Type="http://schemas.openxmlformats.org/officeDocument/2006/relationships/presProps" Target="/ppt/presProps.xml" Id="R6733d1495818468d" /><Relationship Type="http://schemas.openxmlformats.org/officeDocument/2006/relationships/tableStyles" Target="/ppt/tableStyles.xml" Id="Rf091f9f9b2c34a38" /><Relationship Type="http://schemas.openxmlformats.org/officeDocument/2006/relationships/slide" Target="/ppt/slides/slide1.xml" Id="Rb29474e8c0f147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ef8a03998a42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b56f39181b465b" /><Relationship Type="http://schemas.openxmlformats.org/officeDocument/2006/relationships/notesMaster" Target="/ppt/notesMasters/notesMaster1.xml" Id="R0628835c1cc144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/Users/zion/Developer/School/ss1-soft-skills-llm/docs/dissertation-handoff.md; /Users/zion/Developer/School/ss1-soft-skills-llm/reports/benchmark/recruitview-final-review.md; /Users/zion/Developer/School/ss1-soft-skills-llm/reports/benchmark/recruitview-paper-comparison.md. Published references: https://arxiv.org/abs/2512.00450 ; https://doi.org/10.1037/pspp0000401 ; https://doi.org/10.1016/j.dib.2022.107792 . Course requirements from the earlier Poster Highlights Summary conversation, not independently rechecked against the recording. A1 landscape single-slide poster. User supplied Anameti Umoh, supervisor Dr. Sangeeta Sangeeta and deadline 16 September. The timeline assumes this is the poster deadline in 2026. Proposed review dates are not confirmed appointments. Dissertation completion dates remain to be confirmed. Main model selected on validation; repeated historical test examination makes follow-up findings exploratory. No direct interview BESSI ground truth. Model 2 uses a row-level split and an assumed distributional scale adjustment. Generated chart workbook contains a literal snapshot of the three saved results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65fa8f36954d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feedc64c454311" /><Relationship Type="http://schemas.openxmlformats.org/officeDocument/2006/relationships/slideLayout" Target="/ppt/slideLayouts/slideLayout1.xml" Id="Rf5fcd6493f5148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fcd6493f5148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3fe2cb33254a39" /><Relationship Type="http://schemas.openxmlformats.org/officeDocument/2006/relationships/chart" Target="/ppt/slides/charts/chart1.xml" Id="R93d7676ff04f4aea" /><Relationship Type="http://schemas.openxmlformats.org/officeDocument/2006/relationships/notesSlide" Target="/ppt/notesSlides/notesSlide1.xml" Id="Re923d2aefb884c65" /></Relationships>
</file>

<file path=ppt/slides/charts/chart1.xml><?xml version="1.0" encoding="utf-8"?>
<c:chartSpace xmlns:c="http://schemas.openxmlformats.org/drawingml/2006/chart">
  <c:lang val="en-US"/>
  <c:chart>
    <c:plotArea>
      <c:barChart>
        <c:barDir val="col"/>
        <c:grouping val="clustered"/>
        <c:varyColors val="0"/>
        <c:ser>
          <c:idx val="0"/>
          <c:order val="0"/>
          <c:tx>
            <c:v>Length only</c:v>
          </c:tx>
          <c:spPr>
            <a:solidFill xmlns:a="http://schemas.openxmlformats.org/drawingml/2006/main">
              <a:srgbClr val="A5B6C0"/>
            </a:solidFill>
          </c:spPr>
          <c:cat>
            <c:strLit>
              <c:ptCount val="2"/>
              <c:pt idx="0">
                <c:v>Big Five mean</c:v>
              </c:pt>
              <c:pt idx="1">
                <c:v>Speaking skills</c:v>
              </c:pt>
            </c:strLit>
          </c:cat>
          <c:val>
            <c:numLit>
              <c:formatCode>0.000</c:formatCode>
              <c:ptCount val="2"/>
              <c:pt idx="0">
                <c:v>0.4284</c:v>
              </c:pt>
              <c:pt idx="1">
                <c:v>0.4685</c:v>
              </c:pt>
            </c:numLit>
          </c:val>
        </c:ser>
        <c:ser>
          <c:idx val="1"/>
          <c:order val="1"/>
          <c:tx>
            <c:v>Audio only</c:v>
          </c:tx>
          <c:spPr>
            <a:solidFill xmlns:a="http://schemas.openxmlformats.org/drawingml/2006/main">
              <a:srgbClr val="527FAD"/>
            </a:solidFill>
          </c:spPr>
          <c:cat>
            <c:strLit>
              <c:ptCount val="2"/>
              <c:pt idx="0">
                <c:v>Big Five mean</c:v>
              </c:pt>
              <c:pt idx="1">
                <c:v>Speaking skills</c:v>
              </c:pt>
            </c:strLit>
          </c:cat>
          <c:val>
            <c:numLit>
              <c:formatCode>0.000</c:formatCode>
              <c:ptCount val="2"/>
              <c:pt idx="0">
                <c:v>0.4645</c:v>
              </c:pt>
              <c:pt idx="1">
                <c:v>0.4825</c:v>
              </c:pt>
            </c:numLit>
          </c:val>
        </c:ser>
        <c:ser>
          <c:idx val="2"/>
          <c:order val="2"/>
          <c:tx>
            <c:v>LLM + audio</c:v>
          </c:tx>
          <c:spPr>
            <a:solidFill xmlns:a="http://schemas.openxmlformats.org/drawingml/2006/main">
              <a:srgbClr val="087E83"/>
            </a:solidFill>
          </c:spPr>
          <c:cat>
            <c:strLit>
              <c:ptCount val="2"/>
              <c:pt idx="0">
                <c:v>Big Five mean</c:v>
              </c:pt>
              <c:pt idx="1">
                <c:v>Speaking skills</c:v>
              </c:pt>
            </c:strLit>
          </c:cat>
          <c:val>
            <c:numLit>
              <c:formatCode>0.000</c:formatCode>
              <c:ptCount val="2"/>
              <c:pt idx="0">
                <c:v>0.4518</c:v>
              </c:pt>
              <c:pt idx="1">
                <c:v>0.4859</c:v>
              </c:pt>
            </c:numLit>
          </c:val>
        </c:ser>
        <c:dLbls>
          <c:txPr>
            <a:bodyPr xmlns:a="http://schemas.openxmlformats.org/drawingml/2006/main" anchorCtr="1"/>
            <a:lstStyle xmlns:a="http://schemas.openxmlformats.org/drawingml/2006/main"/>
            <a:p xmlns:a="http://schemas.openxmlformats.org/drawingml/2006/main">
              <a:pPr>
                <a:defRPr sz="2100">
                  <a:solidFill>
                    <a:srgbClr val="172E40"/>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2DEE3"/>
            </a:solidFill>
          </a:ln>
        </c:spPr>
        <c:txPr>
          <a:bodyPr xmlns:a="http://schemas.openxmlformats.org/drawingml/2006/main" anchorCtr="1"/>
          <a:lstStyle xmlns:a="http://schemas.openxmlformats.org/drawingml/2006/main"/>
          <a:p xmlns:a="http://schemas.openxmlformats.org/drawingml/2006/main">
            <a:pPr>
              <a:defRPr sz="2325">
                <a:solidFill>
                  <a:srgbClr val="172E40"/>
                </a:solidFill>
                <a:latin typeface="Arial"/>
                <a:ea typeface="Arial"/>
                <a:cs typeface="Arial"/>
              </a:defRPr>
            </a:pPr>
          </a:p>
        </c:txPr>
        <c:crossAx val="48672768"/>
      </c:catAx>
      <c:valAx>
        <c:axId val="48672768"/>
        <c:scaling>
          <c:orientation val="minMax"/>
          <c:max val="0.6"/>
          <c:min val="0"/>
        </c:scaling>
        <c:delete val="0"/>
        <c:axPos val="l"/>
        <c:majorGridlines>
          <c:spPr>
            <a:ln xmlns:a="http://schemas.openxmlformats.org/drawingml/2006/main" w="9525">
              <a:solidFill>
                <a:srgbClr val="D2DEE3"/>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100">
                <a:solidFill>
                  <a:srgbClr val="556772"/>
                </a:solidFill>
                <a:latin typeface="Arial"/>
                <a:ea typeface="Arial"/>
                <a:cs typeface="Arial"/>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2175">
              <a:solidFill>
                <a:srgbClr val="172E40"/>
              </a:solidFill>
              <a:latin typeface="Arial"/>
              <a:ea typeface="Arial"/>
              <a:cs typeface="Arial"/>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title">
            <a:extLst xmlns:a="http://schemas.openxmlformats.org/drawingml/2006/main">
              <a:ext uri="{FF2B5EF4-FFF2-40B4-BE49-F238E27FC236}">
                <a16:creationId xmlns:a16="http://schemas.microsoft.com/office/drawing/2014/main" id="{A4BFDE85-EE9E-4B4B-BE9B-E9EFCD25C846}"/>
              </a:ext>
            </a:extLst>
          </p:cNvPr>
          <p:cNvSpPr>
            <a:spLocks xmlns:a="http://schemas.openxmlformats.org/drawingml/2006/main" noGrp="1"/>
          </p:cNvSpPr>
          <p:nvPr/>
        </p:nvSpPr>
        <p:spPr>
          <a:xfrm xmlns:a="http://schemas.openxmlformats.org/drawingml/2006/main">
            <a:off x="857250" y="609600"/>
            <a:ext cx="28575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550" b="1">
                <a:solidFill>
                  <a:srgbClr val="172E40"/>
                </a:solidFill>
                <a:latin typeface="Arial"/>
                <a:ea typeface="Arial"/>
                <a:cs typeface="Arial"/>
              </a:defRPr>
            </a:pPr>
            <a:r>
              <a:rPr sz="5550" b="1">
                <a:solidFill>
                  <a:srgbClr val="172E40"/>
                </a:solidFill>
                <a:latin typeface="Arial"/>
                <a:ea typeface="Arial"/>
                <a:cs typeface="Arial"/>
              </a:rPr>
              <a:t>Personality Traits and Emotion Recognition to Predict</a:t>
            </a:r>
          </a:p>
          <a:p xmlns:a="http://schemas.openxmlformats.org/drawingml/2006/main">
            <a:pPr>
              <a:defRPr sz="5550" b="1">
                <a:solidFill>
                  <a:srgbClr val="172E40"/>
                </a:solidFill>
                <a:latin typeface="Arial"/>
                <a:ea typeface="Arial"/>
                <a:cs typeface="Arial"/>
              </a:defRPr>
            </a:pPr>
            <a:r>
              <a:rPr sz="5550" b="1">
                <a:solidFill>
                  <a:srgbClr val="172E40"/>
                </a:solidFill>
                <a:latin typeface="Arial"/>
                <a:ea typeface="Arial"/>
                <a:cs typeface="Arial"/>
              </a:rPr>
              <a:t>Engineering Students’ Soft Skills using applications of LLMs</a:t>
            </a:r>
          </a:p>
        </p:txBody>
      </p:sp>
      <p:sp>
        <p:nvSpPr>
          <p:cNvPr id="2" name="author">
            <a:extLst xmlns:a="http://schemas.openxmlformats.org/drawingml/2006/main">
              <a:ext uri="{FF2B5EF4-FFF2-40B4-BE49-F238E27FC236}">
                <a16:creationId xmlns:a16="http://schemas.microsoft.com/office/drawing/2014/main" id="{06A1434C-E751-4634-9C1C-2EA8EE49C98A}"/>
              </a:ext>
            </a:extLst>
          </p:cNvPr>
          <p:cNvSpPr>
            <a:spLocks xmlns:a="http://schemas.openxmlformats.org/drawingml/2006/main" noGrp="1"/>
          </p:cNvSpPr>
          <p:nvPr/>
        </p:nvSpPr>
        <p:spPr>
          <a:xfrm xmlns:a="http://schemas.openxmlformats.org/drawingml/2006/main">
            <a:off x="895350" y="2705100"/>
            <a:ext cx="2828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556772"/>
                </a:solidFill>
                <a:latin typeface="Arial"/>
                <a:ea typeface="Arial"/>
                <a:cs typeface="Arial"/>
              </a:defRPr>
            </a:pPr>
            <a:r>
              <a:rPr sz="2400" b="0">
                <a:solidFill>
                  <a:srgbClr val="556772"/>
                </a:solidFill>
                <a:latin typeface="Arial"/>
                <a:ea typeface="Arial"/>
                <a:cs typeface="Arial"/>
              </a:rPr>
              <a:t>Anameti Umoh     Supervisor: Dr. Sangeeta Sangeeta     MSc project, CSC-44120</a:t>
            </a:r>
          </a:p>
        </p:txBody>
      </p:sp>
      <p:sp>
        <p:nvSpPr>
          <p:cNvPr id="3" name="">
            <a:extLst xmlns:a="http://schemas.openxmlformats.org/drawingml/2006/main">
              <a:ext uri="{FF2B5EF4-FFF2-40B4-BE49-F238E27FC236}">
                <a16:creationId xmlns:a16="http://schemas.microsoft.com/office/drawing/2014/main" id="{A440A246-A58E-4345-8461-D9B1870F1901}"/>
              </a:ext>
            </a:extLst>
          </p:cNvPr>
          <p:cNvSpPr>
            <a:spLocks xmlns:a="http://schemas.openxmlformats.org/drawingml/2006/main" noGrp="1"/>
          </p:cNvSpPr>
          <p:nvPr/>
        </p:nvSpPr>
        <p:spPr>
          <a:xfrm xmlns:a="http://schemas.openxmlformats.org/drawingml/2006/main">
            <a:off x="857250" y="3333750"/>
            <a:ext cx="28555950" cy="0"/>
          </a:xfrm>
          <a:prstGeom xmlns:a="http://schemas.openxmlformats.org/drawingml/2006/main" prst="line">
            <a:avLst/>
          </a:prstGeom>
          <a:noFill xmlns:a="http://schemas.openxmlformats.org/drawingml/2006/main"/>
          <a:ln xmlns:a="http://schemas.openxmlformats.org/drawingml/2006/main" w="19050">
            <a:solidFill>
              <a:srgbClr val="D2DEE3"/>
            </a:solidFill>
          </a:ln>
        </p:spPr>
      </p:sp>
      <p:sp>
        <p:nvSpPr>
          <p:cNvPr id="4" name="Background and aims">
            <a:extLst xmlns:a="http://schemas.openxmlformats.org/drawingml/2006/main">
              <a:ext uri="{FF2B5EF4-FFF2-40B4-BE49-F238E27FC236}">
                <a16:creationId xmlns:a16="http://schemas.microsoft.com/office/drawing/2014/main" id="{2584A397-30A9-41D7-B135-6CAD173C3FA1}"/>
              </a:ext>
            </a:extLst>
          </p:cNvPr>
          <p:cNvSpPr>
            <a:spLocks xmlns:a="http://schemas.openxmlformats.org/drawingml/2006/main" noGrp="1"/>
          </p:cNvSpPr>
          <p:nvPr/>
        </p:nvSpPr>
        <p:spPr>
          <a:xfrm xmlns:a="http://schemas.openxmlformats.org/drawingml/2006/main">
            <a:off x="857250" y="3752850"/>
            <a:ext cx="890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87E83"/>
                </a:solidFill>
                <a:latin typeface="Arial"/>
                <a:ea typeface="Arial"/>
                <a:cs typeface="Arial"/>
              </a:defRPr>
            </a:pPr>
            <a:r>
              <a:rPr sz="3300" b="1">
                <a:solidFill>
                  <a:srgbClr val="087E83"/>
                </a:solidFill>
                <a:latin typeface="Arial"/>
                <a:ea typeface="Arial"/>
                <a:cs typeface="Arial"/>
              </a:rPr>
              <a:t>Background and aims</a:t>
            </a:r>
          </a:p>
        </p:txBody>
      </p:sp>
      <p:sp>
        <p:nvSpPr>
          <p:cNvPr id="5" name="">
            <a:extLst xmlns:a="http://schemas.openxmlformats.org/drawingml/2006/main">
              <a:ext uri="{FF2B5EF4-FFF2-40B4-BE49-F238E27FC236}">
                <a16:creationId xmlns:a16="http://schemas.microsoft.com/office/drawing/2014/main" id="{AC35D983-87EB-4304-BCD1-B8B944F685AE}"/>
              </a:ext>
            </a:extLst>
          </p:cNvPr>
          <p:cNvSpPr>
            <a:spLocks xmlns:a="http://schemas.openxmlformats.org/drawingml/2006/main" noGrp="1"/>
          </p:cNvSpPr>
          <p:nvPr/>
        </p:nvSpPr>
        <p:spPr>
          <a:xfrm xmlns:a="http://schemas.openxmlformats.org/drawingml/2006/main">
            <a:off x="857250" y="4400550"/>
            <a:ext cx="8905875" cy="0"/>
          </a:xfrm>
          <a:prstGeom xmlns:a="http://schemas.openxmlformats.org/drawingml/2006/main" prst="line">
            <a:avLst/>
          </a:prstGeom>
          <a:noFill xmlns:a="http://schemas.openxmlformats.org/drawingml/2006/main"/>
          <a:ln xmlns:a="http://schemas.openxmlformats.org/drawingml/2006/main" w="19050">
            <a:solidFill>
              <a:srgbClr val="D2DEE3"/>
            </a:solidFill>
          </a:ln>
        </p:spPr>
      </p:sp>
      <p:sp>
        <p:nvSpPr>
          <p:cNvPr id="6" name="problem">
            <a:extLst xmlns:a="http://schemas.openxmlformats.org/drawingml/2006/main">
              <a:ext uri="{FF2B5EF4-FFF2-40B4-BE49-F238E27FC236}">
                <a16:creationId xmlns:a16="http://schemas.microsoft.com/office/drawing/2014/main" id="{0B505E5D-2F81-42AF-8B63-DE4FC8CF03BC}"/>
              </a:ext>
            </a:extLst>
          </p:cNvPr>
          <p:cNvSpPr>
            <a:spLocks xmlns:a="http://schemas.openxmlformats.org/drawingml/2006/main" noGrp="1"/>
          </p:cNvSpPr>
          <p:nvPr/>
        </p:nvSpPr>
        <p:spPr>
          <a:xfrm xmlns:a="http://schemas.openxmlformats.org/drawingml/2006/main">
            <a:off x="857250" y="4629150"/>
            <a:ext cx="8905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Soft skills matter in engineering education. This project investigates whether interview language and vocal delivery can support their estimation, using personality as an intermediate step.</a:t>
            </a:r>
          </a:p>
        </p:txBody>
      </p:sp>
      <p:sp>
        <p:nvSpPr>
          <p:cNvPr id="7" name="research-question">
            <a:extLst xmlns:a="http://schemas.openxmlformats.org/drawingml/2006/main">
              <a:ext uri="{FF2B5EF4-FFF2-40B4-BE49-F238E27FC236}">
                <a16:creationId xmlns:a16="http://schemas.microsoft.com/office/drawing/2014/main" id="{17B0D8D8-3DC1-49CB-8346-58D38C287D36}"/>
              </a:ext>
            </a:extLst>
          </p:cNvPr>
          <p:cNvSpPr>
            <a:spLocks xmlns:a="http://schemas.openxmlformats.org/drawingml/2006/main" noGrp="1"/>
          </p:cNvSpPr>
          <p:nvPr/>
        </p:nvSpPr>
        <p:spPr>
          <a:xfrm xmlns:a="http://schemas.openxmlformats.org/drawingml/2006/main">
            <a:off x="857250" y="6457950"/>
            <a:ext cx="890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Research question</a:t>
            </a:r>
          </a:p>
        </p:txBody>
      </p:sp>
      <p:sp>
        <p:nvSpPr>
          <p:cNvPr id="8" name="question">
            <a:extLst xmlns:a="http://schemas.openxmlformats.org/drawingml/2006/main">
              <a:ext uri="{FF2B5EF4-FFF2-40B4-BE49-F238E27FC236}">
                <a16:creationId xmlns:a16="http://schemas.microsoft.com/office/drawing/2014/main" id="{087357FD-AB9E-4CFE-B2D1-526698A11F87}"/>
              </a:ext>
            </a:extLst>
          </p:cNvPr>
          <p:cNvSpPr>
            <a:spLocks xmlns:a="http://schemas.openxmlformats.org/drawingml/2006/main" noGrp="1"/>
          </p:cNvSpPr>
          <p:nvPr/>
        </p:nvSpPr>
        <p:spPr>
          <a:xfrm xmlns:a="http://schemas.openxmlformats.org/drawingml/2006/main">
            <a:off x="857250" y="7000875"/>
            <a:ext cx="890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Can LLM-derived text cues and audio characteristics predict interview ratings and support an exploratory Big Five-to-BESSI skill mapping?</a:t>
            </a:r>
          </a:p>
        </p:txBody>
      </p:sp>
      <p:sp>
        <p:nvSpPr>
          <p:cNvPr id="9" name="objectives">
            <a:extLst xmlns:a="http://schemas.openxmlformats.org/drawingml/2006/main">
              <a:ext uri="{FF2B5EF4-FFF2-40B4-BE49-F238E27FC236}">
                <a16:creationId xmlns:a16="http://schemas.microsoft.com/office/drawing/2014/main" id="{B05D587B-F156-4761-9333-3537401EBE28}"/>
              </a:ext>
            </a:extLst>
          </p:cNvPr>
          <p:cNvSpPr>
            <a:spLocks xmlns:a="http://schemas.openxmlformats.org/drawingml/2006/main" noGrp="1"/>
          </p:cNvSpPr>
          <p:nvPr/>
        </p:nvSpPr>
        <p:spPr>
          <a:xfrm xmlns:a="http://schemas.openxmlformats.org/drawingml/2006/main">
            <a:off x="857250" y="8686800"/>
            <a:ext cx="890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Objectives</a:t>
            </a:r>
          </a:p>
        </p:txBody>
      </p:sp>
      <p:sp>
        <p:nvSpPr>
          <p:cNvPr id="10" name="objective-list">
            <a:extLst xmlns:a="http://schemas.openxmlformats.org/drawingml/2006/main">
              <a:ext uri="{FF2B5EF4-FFF2-40B4-BE49-F238E27FC236}">
                <a16:creationId xmlns:a16="http://schemas.microsoft.com/office/drawing/2014/main" id="{0314BED6-557E-447A-A5C2-5C18B66B755C}"/>
              </a:ext>
            </a:extLst>
          </p:cNvPr>
          <p:cNvSpPr>
            <a:spLocks xmlns:a="http://schemas.openxmlformats.org/drawingml/2006/main" noGrp="1"/>
          </p:cNvSpPr>
          <p:nvPr/>
        </p:nvSpPr>
        <p:spPr>
          <a:xfrm xmlns:a="http://schemas.openxmlformats.org/drawingml/2006/main">
            <a:off x="857250" y="9239250"/>
            <a:ext cx="8905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1. Extract structured language and audio features.</a:t>
            </a:r>
          </a:p>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2. Compare predictions with simple baselines and published RecruitView results.</a:t>
            </a:r>
          </a:p>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3. Evaluate a separate personality-to-skill mapping and identify its limits.</a:t>
            </a:r>
          </a:p>
        </p:txBody>
      </p:sp>
      <p:sp>
        <p:nvSpPr>
          <p:cNvPr id="11" name="research-basis">
            <a:extLst xmlns:a="http://schemas.openxmlformats.org/drawingml/2006/main">
              <a:ext uri="{FF2B5EF4-FFF2-40B4-BE49-F238E27FC236}">
                <a16:creationId xmlns:a16="http://schemas.microsoft.com/office/drawing/2014/main" id="{24CF3546-859C-43C6-A589-E9873290FB35}"/>
              </a:ext>
            </a:extLst>
          </p:cNvPr>
          <p:cNvSpPr>
            <a:spLocks xmlns:a="http://schemas.openxmlformats.org/drawingml/2006/main" noGrp="1"/>
          </p:cNvSpPr>
          <p:nvPr/>
        </p:nvSpPr>
        <p:spPr>
          <a:xfrm xmlns:a="http://schemas.openxmlformats.org/drawingml/2006/main">
            <a:off x="857250" y="11601450"/>
            <a:ext cx="890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Research basis</a:t>
            </a:r>
          </a:p>
        </p:txBody>
      </p:sp>
      <p:sp>
        <p:nvSpPr>
          <p:cNvPr id="12" name="literature">
            <a:extLst xmlns:a="http://schemas.openxmlformats.org/drawingml/2006/main">
              <a:ext uri="{FF2B5EF4-FFF2-40B4-BE49-F238E27FC236}">
                <a16:creationId xmlns:a16="http://schemas.microsoft.com/office/drawing/2014/main" id="{AF4E181D-000F-4088-AEB9-C48FC0C92CFF}"/>
              </a:ext>
            </a:extLst>
          </p:cNvPr>
          <p:cNvSpPr>
            <a:spLocks xmlns:a="http://schemas.openxmlformats.org/drawingml/2006/main" noGrp="1"/>
          </p:cNvSpPr>
          <p:nvPr/>
        </p:nvSpPr>
        <p:spPr>
          <a:xfrm xmlns:a="http://schemas.openxmlformats.org/drawingml/2006/main">
            <a:off x="857250" y="12153900"/>
            <a:ext cx="89058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RecruitView [1] provides interview personality and performance ratings. BESSI research [2, 3] studies related personality and skill measures. Relatedness supports testing a mapping, not assuming that personality and skills are equivalent.</a:t>
            </a:r>
          </a:p>
        </p:txBody>
      </p:sp>
      <p:sp>
        <p:nvSpPr>
          <p:cNvPr id="13" name="data">
            <a:extLst xmlns:a="http://schemas.openxmlformats.org/drawingml/2006/main">
              <a:ext uri="{FF2B5EF4-FFF2-40B4-BE49-F238E27FC236}">
                <a16:creationId xmlns:a16="http://schemas.microsoft.com/office/drawing/2014/main" id="{360CC6F8-D425-4C2E-953C-8701048E37E5}"/>
              </a:ext>
            </a:extLst>
          </p:cNvPr>
          <p:cNvSpPr>
            <a:spLocks xmlns:a="http://schemas.openxmlformats.org/drawingml/2006/main" noGrp="1"/>
          </p:cNvSpPr>
          <p:nvPr/>
        </p:nvSpPr>
        <p:spPr>
          <a:xfrm xmlns:a="http://schemas.openxmlformats.org/drawingml/2006/main">
            <a:off x="857250" y="14478000"/>
            <a:ext cx="890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Data</a:t>
            </a:r>
          </a:p>
        </p:txBody>
      </p:sp>
      <p:sp>
        <p:nvSpPr>
          <p:cNvPr id="14" name="data-detail">
            <a:extLst xmlns:a="http://schemas.openxmlformats.org/drawingml/2006/main">
              <a:ext uri="{FF2B5EF4-FFF2-40B4-BE49-F238E27FC236}">
                <a16:creationId xmlns:a16="http://schemas.microsoft.com/office/drawing/2014/main" id="{569E00AB-C2A6-49CE-A518-2EE661F8161F}"/>
              </a:ext>
            </a:extLst>
          </p:cNvPr>
          <p:cNvSpPr>
            <a:spLocks xmlns:a="http://schemas.openxmlformats.org/drawingml/2006/main" noGrp="1"/>
          </p:cNvSpPr>
          <p:nvPr/>
        </p:nvSpPr>
        <p:spPr>
          <a:xfrm xmlns:a="http://schemas.openxmlformats.org/drawingml/2006/main">
            <a:off x="857250" y="15030450"/>
            <a:ext cx="8905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RecruitView: 1,998 responses, 331 people.</a:t>
            </a:r>
          </a:p>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Paired Big Five/BESSI data: 313 usable rows.</a:t>
            </a:r>
          </a:p>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No visual features in the final model.</a:t>
            </a:r>
          </a:p>
        </p:txBody>
      </p:sp>
      <p:sp>
        <p:nvSpPr>
          <p:cNvPr id="15" name="Method and evaluation">
            <a:extLst xmlns:a="http://schemas.openxmlformats.org/drawingml/2006/main">
              <a:ext uri="{FF2B5EF4-FFF2-40B4-BE49-F238E27FC236}">
                <a16:creationId xmlns:a16="http://schemas.microsoft.com/office/drawing/2014/main" id="{0D799BFD-BA26-4ADD-B238-4F50C59EA359}"/>
              </a:ext>
            </a:extLst>
          </p:cNvPr>
          <p:cNvSpPr>
            <a:spLocks xmlns:a="http://schemas.openxmlformats.org/drawingml/2006/main" noGrp="1"/>
          </p:cNvSpPr>
          <p:nvPr/>
        </p:nvSpPr>
        <p:spPr>
          <a:xfrm xmlns:a="http://schemas.openxmlformats.org/drawingml/2006/main">
            <a:off x="10572750" y="3752850"/>
            <a:ext cx="890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87E83"/>
                </a:solidFill>
                <a:latin typeface="Arial"/>
                <a:ea typeface="Arial"/>
                <a:cs typeface="Arial"/>
              </a:defRPr>
            </a:pPr>
            <a:r>
              <a:rPr sz="3300" b="1">
                <a:solidFill>
                  <a:srgbClr val="087E83"/>
                </a:solidFill>
                <a:latin typeface="Arial"/>
                <a:ea typeface="Arial"/>
                <a:cs typeface="Arial"/>
              </a:rPr>
              <a:t>Method and evaluation</a:t>
            </a:r>
          </a:p>
        </p:txBody>
      </p:sp>
      <p:sp>
        <p:nvSpPr>
          <p:cNvPr id="16" name="">
            <a:extLst xmlns:a="http://schemas.openxmlformats.org/drawingml/2006/main">
              <a:ext uri="{FF2B5EF4-FFF2-40B4-BE49-F238E27FC236}">
                <a16:creationId xmlns:a16="http://schemas.microsoft.com/office/drawing/2014/main" id="{BFDE9B34-F6E0-4991-90AD-F4C52E1D615E}"/>
              </a:ext>
            </a:extLst>
          </p:cNvPr>
          <p:cNvSpPr>
            <a:spLocks xmlns:a="http://schemas.openxmlformats.org/drawingml/2006/main" noGrp="1"/>
          </p:cNvSpPr>
          <p:nvPr/>
        </p:nvSpPr>
        <p:spPr>
          <a:xfrm xmlns:a="http://schemas.openxmlformats.org/drawingml/2006/main">
            <a:off x="10572750" y="4400550"/>
            <a:ext cx="8905875" cy="0"/>
          </a:xfrm>
          <a:prstGeom xmlns:a="http://schemas.openxmlformats.org/drawingml/2006/main" prst="line">
            <a:avLst/>
          </a:prstGeom>
          <a:noFill xmlns:a="http://schemas.openxmlformats.org/drawingml/2006/main"/>
          <a:ln xmlns:a="http://schemas.openxmlformats.org/drawingml/2006/main" w="19050">
            <a:solidFill>
              <a:srgbClr val="D2DEE3"/>
            </a:solidFill>
          </a:ln>
        </p:spPr>
      </p:sp>
      <p:sp>
        <p:nvSpPr>
          <p:cNvPr id="17" name="interview">
            <a:extLst xmlns:a="http://schemas.openxmlformats.org/drawingml/2006/main">
              <a:ext uri="{FF2B5EF4-FFF2-40B4-BE49-F238E27FC236}">
                <a16:creationId xmlns:a16="http://schemas.microsoft.com/office/drawing/2014/main" id="{56F4440C-D1FC-4BAF-AB87-B840B2AD284B}"/>
              </a:ext>
            </a:extLst>
          </p:cNvPr>
          <p:cNvSpPr>
            <a:spLocks xmlns:a="http://schemas.openxmlformats.org/drawingml/2006/main" noGrp="1"/>
          </p:cNvSpPr>
          <p:nvPr/>
        </p:nvSpPr>
        <p:spPr>
          <a:xfrm xmlns:a="http://schemas.openxmlformats.org/drawingml/2006/main">
            <a:off x="11144250" y="4667250"/>
            <a:ext cx="7715250" cy="1047750"/>
          </a:xfrm>
          <a:prstGeom xmlns:a="http://schemas.openxmlformats.org/drawingml/2006/main" prst="rect">
            <a:avLst/>
          </a:prstGeom>
          <a:solidFill xmlns:a="http://schemas.openxmlformats.org/drawingml/2006/main">
            <a:srgbClr val="EAF4F4"/>
          </a:solidFill>
          <a:ln xmlns:a="http://schemas.openxmlformats.org/drawingml/2006/main" w="19050">
            <a:solidFill>
              <a:srgbClr val="087E83"/>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RecruitView interviews</a:t>
            </a:r>
          </a:p>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Transcript and audio</a:t>
            </a:r>
          </a:p>
        </p:txBody>
      </p:sp>
      <p:sp>
        <p:nvSpPr>
          <p:cNvPr id="18" name="features">
            <a:extLst xmlns:a="http://schemas.openxmlformats.org/drawingml/2006/main">
              <a:ext uri="{FF2B5EF4-FFF2-40B4-BE49-F238E27FC236}">
                <a16:creationId xmlns:a16="http://schemas.microsoft.com/office/drawing/2014/main" id="{E62F925C-96DB-4632-A9C7-022CF3C6BAA0}"/>
              </a:ext>
            </a:extLst>
          </p:cNvPr>
          <p:cNvSpPr>
            <a:spLocks xmlns:a="http://schemas.openxmlformats.org/drawingml/2006/main" noGrp="1"/>
          </p:cNvSpPr>
          <p:nvPr/>
        </p:nvSpPr>
        <p:spPr>
          <a:xfrm xmlns:a="http://schemas.openxmlformats.org/drawingml/2006/main">
            <a:off x="11144250" y="6238875"/>
            <a:ext cx="7715250" cy="1476375"/>
          </a:xfrm>
          <a:prstGeom xmlns:a="http://schemas.openxmlformats.org/drawingml/2006/main" prst="rect">
            <a:avLst/>
          </a:prstGeom>
          <a:solidFill xmlns:a="http://schemas.openxmlformats.org/drawingml/2006/main">
            <a:srgbClr val="EAF4F4"/>
          </a:solidFill>
          <a:ln xmlns:a="http://schemas.openxmlformats.org/drawingml/2006/main" w="19050">
            <a:solidFill>
              <a:srgbClr val="087E83"/>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Feature extraction</a:t>
            </a:r>
          </a:p>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LLM: 10 text cues, including emotional expression</a:t>
            </a:r>
          </a:p>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Audio processing: 12 numeric measurements</a:t>
            </a:r>
          </a:p>
        </p:txBody>
      </p:sp>
      <p:sp>
        <p:nvSpPr>
          <p:cNvPr id="19" name="predictor">
            <a:extLst xmlns:a="http://schemas.openxmlformats.org/drawingml/2006/main">
              <a:ext uri="{FF2B5EF4-FFF2-40B4-BE49-F238E27FC236}">
                <a16:creationId xmlns:a16="http://schemas.microsoft.com/office/drawing/2014/main" id="{B7BE6258-C387-4096-9296-408477E16C44}"/>
              </a:ext>
            </a:extLst>
          </p:cNvPr>
          <p:cNvSpPr>
            <a:spLocks xmlns:a="http://schemas.openxmlformats.org/drawingml/2006/main" noGrp="1"/>
          </p:cNvSpPr>
          <p:nvPr/>
        </p:nvSpPr>
        <p:spPr>
          <a:xfrm xmlns:a="http://schemas.openxmlformats.org/drawingml/2006/main">
            <a:off x="11144250" y="8239125"/>
            <a:ext cx="7715250" cy="1190625"/>
          </a:xfrm>
          <a:prstGeom xmlns:a="http://schemas.openxmlformats.org/drawingml/2006/main" prst="rect">
            <a:avLst/>
          </a:prstGeom>
          <a:solidFill xmlns:a="http://schemas.openxmlformats.org/drawingml/2006/main">
            <a:srgbClr val="EAF4F4"/>
          </a:solidFill>
          <a:ln xmlns:a="http://schemas.openxmlformats.org/drawingml/2006/main" w="19050">
            <a:solidFill>
              <a:srgbClr val="087E83"/>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Model 1: Ridge regression</a:t>
            </a:r>
          </a:p>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Predict Big Five ratings and speaking skills</a:t>
            </a:r>
          </a:p>
        </p:txBody>
      </p:sp>
      <p:sp>
        <p:nvSpPr>
          <p:cNvPr id="20" name="mapping">
            <a:extLst xmlns:a="http://schemas.openxmlformats.org/drawingml/2006/main">
              <a:ext uri="{FF2B5EF4-FFF2-40B4-BE49-F238E27FC236}">
                <a16:creationId xmlns:a16="http://schemas.microsoft.com/office/drawing/2014/main" id="{2CAC7164-A041-46A0-95BD-DE7ED2B342DF}"/>
              </a:ext>
            </a:extLst>
          </p:cNvPr>
          <p:cNvSpPr>
            <a:spLocks xmlns:a="http://schemas.openxmlformats.org/drawingml/2006/main" noGrp="1"/>
          </p:cNvSpPr>
          <p:nvPr/>
        </p:nvSpPr>
        <p:spPr>
          <a:xfrm xmlns:a="http://schemas.openxmlformats.org/drawingml/2006/main">
            <a:off x="11144250" y="10287000"/>
            <a:ext cx="7715250" cy="1190625"/>
          </a:xfrm>
          <a:prstGeom xmlns:a="http://schemas.openxmlformats.org/drawingml/2006/main" prst="rect">
            <a:avLst/>
          </a:prstGeom>
          <a:solidFill xmlns:a="http://schemas.openxmlformats.org/drawingml/2006/main">
            <a:srgbClr val="EAF4F4"/>
          </a:solidFill>
          <a:ln xmlns:a="http://schemas.openxmlformats.org/drawingml/2006/main" w="19050">
            <a:solidFill>
              <a:srgbClr val="087E83"/>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Model 2: linear regression</a:t>
            </a:r>
          </a:p>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Use Big Five predictions to estimate BESSI skills</a:t>
            </a:r>
          </a:p>
        </p:txBody>
      </p:sp>
      <p:cxnSp>
        <p:nvCxnSpPr>
          <p:cNvPr id="67" name=""/>
          <p:cNvCxnSpPr>
            <a:stCxn xmlns:a="http://schemas.openxmlformats.org/drawingml/2006/main" id="17" idx="2"/>
            <a:endCxn xmlns:a="http://schemas.openxmlformats.org/drawingml/2006/main" id="18" idx="0"/>
          </p:cNvCxnSpPr>
          <p:nvPr/>
        </p:nvCxnSpPr>
        <p:spPr>
          <a:xfrm xmlns:a="http://schemas.openxmlformats.org/drawingml/2006/main">
            <a:off x="15001875" y="5715000"/>
            <a:ext cx="0" cy="523875"/>
          </a:xfrm>
          <a:prstGeom xmlns:a="http://schemas.openxmlformats.org/drawingml/2006/main" prst="straightConnector1">
            <a:avLst/>
          </a:prstGeom>
          <a:ln xmlns:a="http://schemas.openxmlformats.org/drawingml/2006/main" w="28575">
            <a:solidFill>
              <a:srgbClr val="087E83"/>
            </a:solidFill>
            <a:tailEnd type="triangle" w="med" len="med"/>
          </a:ln>
        </p:spPr>
      </p:cxnSp>
      <p:cxnSp>
        <p:nvCxnSpPr>
          <p:cNvPr id="68" name=""/>
          <p:cNvCxnSpPr>
            <a:stCxn xmlns:a="http://schemas.openxmlformats.org/drawingml/2006/main" id="18" idx="2"/>
            <a:endCxn xmlns:a="http://schemas.openxmlformats.org/drawingml/2006/main" id="19" idx="0"/>
          </p:cNvCxnSpPr>
          <p:nvPr/>
        </p:nvCxnSpPr>
        <p:spPr>
          <a:xfrm xmlns:a="http://schemas.openxmlformats.org/drawingml/2006/main">
            <a:off x="15001875" y="7715250"/>
            <a:ext cx="0" cy="523875"/>
          </a:xfrm>
          <a:prstGeom xmlns:a="http://schemas.openxmlformats.org/drawingml/2006/main" prst="straightConnector1">
            <a:avLst/>
          </a:prstGeom>
          <a:ln xmlns:a="http://schemas.openxmlformats.org/drawingml/2006/main" w="28575">
            <a:solidFill>
              <a:srgbClr val="087E83"/>
            </a:solidFill>
            <a:tailEnd type="triangle" w="med" len="med"/>
          </a:ln>
        </p:spPr>
      </p:cxnSp>
      <p:cxnSp>
        <p:nvCxnSpPr>
          <p:cNvPr id="69" name=""/>
          <p:cNvCxnSpPr>
            <a:stCxn xmlns:a="http://schemas.openxmlformats.org/drawingml/2006/main" id="19" idx="2"/>
            <a:endCxn xmlns:a="http://schemas.openxmlformats.org/drawingml/2006/main" id="20" idx="0"/>
          </p:cNvCxnSpPr>
          <p:nvPr/>
        </p:nvCxnSpPr>
        <p:spPr>
          <a:xfrm xmlns:a="http://schemas.openxmlformats.org/drawingml/2006/main">
            <a:off x="15001875" y="9429750"/>
            <a:ext cx="0" cy="857250"/>
          </a:xfrm>
          <a:prstGeom xmlns:a="http://schemas.openxmlformats.org/drawingml/2006/main" prst="straightConnector1">
            <a:avLst/>
          </a:prstGeom>
          <a:ln xmlns:a="http://schemas.openxmlformats.org/drawingml/2006/main" w="28575">
            <a:solidFill>
              <a:srgbClr val="087E83"/>
            </a:solidFill>
            <a:tailEnd type="triangle" w="med" len="med"/>
          </a:ln>
        </p:spPr>
      </p:cxnSp>
      <p:sp>
        <p:nvSpPr>
          <p:cNvPr id="24" name="mapping-link">
            <a:extLst xmlns:a="http://schemas.openxmlformats.org/drawingml/2006/main">
              <a:ext uri="{FF2B5EF4-FFF2-40B4-BE49-F238E27FC236}">
                <a16:creationId xmlns:a16="http://schemas.microsoft.com/office/drawing/2014/main" id="{7B3B69E7-A536-4976-B338-873ECA969522}"/>
              </a:ext>
            </a:extLst>
          </p:cNvPr>
          <p:cNvSpPr>
            <a:spLocks xmlns:a="http://schemas.openxmlformats.org/drawingml/2006/main" noGrp="1"/>
          </p:cNvSpPr>
          <p:nvPr/>
        </p:nvSpPr>
        <p:spPr>
          <a:xfrm xmlns:a="http://schemas.openxmlformats.org/drawingml/2006/main">
            <a:off x="15335250" y="9572625"/>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56772"/>
                </a:solidFill>
                <a:latin typeface="Arial"/>
                <a:ea typeface="Arial"/>
                <a:cs typeface="Arial"/>
              </a:defRPr>
            </a:pPr>
            <a:r>
              <a:rPr sz="2100" b="0">
                <a:solidFill>
                  <a:srgbClr val="556772"/>
                </a:solidFill>
                <a:latin typeface="Arial"/>
                <a:ea typeface="Arial"/>
                <a:cs typeface="Arial"/>
              </a:rPr>
              <a:t>Big Five</a:t>
            </a:r>
          </a:p>
          <a:p xmlns:a="http://schemas.openxmlformats.org/drawingml/2006/main">
            <a:pPr>
              <a:defRPr sz="2100" b="0">
                <a:solidFill>
                  <a:srgbClr val="556772"/>
                </a:solidFill>
                <a:latin typeface="Arial"/>
                <a:ea typeface="Arial"/>
                <a:cs typeface="Arial"/>
              </a:defRPr>
            </a:pPr>
            <a:r>
              <a:rPr sz="2100" b="0">
                <a:solidFill>
                  <a:srgbClr val="556772"/>
                </a:solidFill>
                <a:latin typeface="Arial"/>
                <a:ea typeface="Arial"/>
                <a:cs typeface="Arial"/>
              </a:rPr>
              <a:t>predictions only</a:t>
            </a:r>
          </a:p>
        </p:txBody>
      </p:sp>
      <p:sp>
        <p:nvSpPr>
          <p:cNvPr id="25" name="separate-data">
            <a:extLst xmlns:a="http://schemas.openxmlformats.org/drawingml/2006/main">
              <a:ext uri="{FF2B5EF4-FFF2-40B4-BE49-F238E27FC236}">
                <a16:creationId xmlns:a16="http://schemas.microsoft.com/office/drawing/2014/main" id="{E04AE4F5-4859-4390-9451-447F920DF232}"/>
              </a:ext>
            </a:extLst>
          </p:cNvPr>
          <p:cNvSpPr>
            <a:spLocks xmlns:a="http://schemas.openxmlformats.org/drawingml/2006/main" noGrp="1"/>
          </p:cNvSpPr>
          <p:nvPr/>
        </p:nvSpPr>
        <p:spPr>
          <a:xfrm xmlns:a="http://schemas.openxmlformats.org/drawingml/2006/main">
            <a:off x="10810875" y="11782425"/>
            <a:ext cx="84772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E40"/>
                </a:solidFill>
                <a:latin typeface="Arial"/>
                <a:ea typeface="Arial"/>
                <a:cs typeface="Arial"/>
              </a:defRPr>
            </a:pPr>
            <a:r>
              <a:rPr sz="2250" b="0">
                <a:solidFill>
                  <a:srgbClr val="172E40"/>
                </a:solidFill>
                <a:latin typeface="Arial"/>
                <a:ea typeface="Arial"/>
                <a:cs typeface="Arial"/>
              </a:rPr>
              <a:t>Model 2 learns from separate paired questionnaire data. Statistical scale adjustment connects the two models. Speaking skills remains a separate Model 1 output.</a:t>
            </a:r>
          </a:p>
        </p:txBody>
      </p:sp>
      <p:sp>
        <p:nvSpPr>
          <p:cNvPr id="26" name="why-method">
            <a:extLst xmlns:a="http://schemas.openxmlformats.org/drawingml/2006/main">
              <a:ext uri="{FF2B5EF4-FFF2-40B4-BE49-F238E27FC236}">
                <a16:creationId xmlns:a16="http://schemas.microsoft.com/office/drawing/2014/main" id="{9C073260-7510-4C4D-AEF2-435BC44DB034}"/>
              </a:ext>
            </a:extLst>
          </p:cNvPr>
          <p:cNvSpPr>
            <a:spLocks xmlns:a="http://schemas.openxmlformats.org/drawingml/2006/main" noGrp="1"/>
          </p:cNvSpPr>
          <p:nvPr/>
        </p:nvSpPr>
        <p:spPr>
          <a:xfrm xmlns:a="http://schemas.openxmlformats.org/drawingml/2006/main">
            <a:off x="10572750" y="13525500"/>
            <a:ext cx="890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Why this approach?</a:t>
            </a:r>
          </a:p>
        </p:txBody>
      </p:sp>
      <p:sp>
        <p:nvSpPr>
          <p:cNvPr id="27" name="method-reason">
            <a:extLst xmlns:a="http://schemas.openxmlformats.org/drawingml/2006/main">
              <a:ext uri="{FF2B5EF4-FFF2-40B4-BE49-F238E27FC236}">
                <a16:creationId xmlns:a16="http://schemas.microsoft.com/office/drawing/2014/main" id="{7228580B-8E40-4A22-8B91-DC64A3F1C697}"/>
              </a:ext>
            </a:extLst>
          </p:cNvPr>
          <p:cNvSpPr>
            <a:spLocks xmlns:a="http://schemas.openxmlformats.org/drawingml/2006/main" noGrp="1"/>
          </p:cNvSpPr>
          <p:nvPr/>
        </p:nvSpPr>
        <p:spPr>
          <a:xfrm xmlns:a="http://schemas.openxmlformats.org/drawingml/2006/main">
            <a:off x="10572750" y="14077950"/>
            <a:ext cx="890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LLMs turn wording into reusable numeric features. Compact regression is interpretable and limits complexity with a small sample.</a:t>
            </a:r>
          </a:p>
        </p:txBody>
      </p:sp>
      <p:sp>
        <p:nvSpPr>
          <p:cNvPr id="28" name="checks">
            <a:extLst xmlns:a="http://schemas.openxmlformats.org/drawingml/2006/main">
              <a:ext uri="{FF2B5EF4-FFF2-40B4-BE49-F238E27FC236}">
                <a16:creationId xmlns:a16="http://schemas.microsoft.com/office/drawing/2014/main" id="{25469E8F-1A23-49E9-A35F-21B9F5ACBA27}"/>
              </a:ext>
            </a:extLst>
          </p:cNvPr>
          <p:cNvSpPr>
            <a:spLocks xmlns:a="http://schemas.openxmlformats.org/drawingml/2006/main" noGrp="1"/>
          </p:cNvSpPr>
          <p:nvPr/>
        </p:nvSpPr>
        <p:spPr>
          <a:xfrm xmlns:a="http://schemas.openxmlformats.org/drawingml/2006/main">
            <a:off x="10572750" y="15373350"/>
            <a:ext cx="890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Evaluation checks</a:t>
            </a:r>
          </a:p>
        </p:txBody>
      </p:sp>
      <p:sp>
        <p:nvSpPr>
          <p:cNvPr id="29" name="checks-detail">
            <a:extLst xmlns:a="http://schemas.openxmlformats.org/drawingml/2006/main">
              <a:ext uri="{FF2B5EF4-FFF2-40B4-BE49-F238E27FC236}">
                <a16:creationId xmlns:a16="http://schemas.microsoft.com/office/drawing/2014/main" id="{B0B1ABF5-50E5-4943-8037-E756D9D573EB}"/>
              </a:ext>
            </a:extLst>
          </p:cNvPr>
          <p:cNvSpPr>
            <a:spLocks xmlns:a="http://schemas.openxmlformats.org/drawingml/2006/main" noGrp="1"/>
          </p:cNvSpPr>
          <p:nvPr/>
        </p:nvSpPr>
        <p:spPr>
          <a:xfrm xmlns:a="http://schemas.openxmlformats.org/drawingml/2006/main">
            <a:off x="10572750" y="15906750"/>
            <a:ext cx="8905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E40"/>
                </a:solidFill>
                <a:latin typeface="Arial"/>
                <a:ea typeface="Arial"/>
                <a:cs typeface="Arial"/>
              </a:defRPr>
            </a:pPr>
            <a:r>
              <a:rPr sz="2325" b="0">
                <a:solidFill>
                  <a:srgbClr val="172E40"/>
                </a:solidFill>
                <a:latin typeface="Arial"/>
                <a:ea typeface="Arial"/>
                <a:cs typeface="Arial"/>
              </a:rPr>
              <a:t>Keep each RecruitView participant in one split.</a:t>
            </a:r>
          </a:p>
          <a:p xmlns:a="http://schemas.openxmlformats.org/drawingml/2006/main">
            <a:pPr>
              <a:defRPr sz="2325" b="0">
                <a:solidFill>
                  <a:srgbClr val="172E40"/>
                </a:solidFill>
                <a:latin typeface="Arial"/>
                <a:ea typeface="Arial"/>
                <a:cs typeface="Arial"/>
              </a:defRPr>
            </a:pPr>
            <a:r>
              <a:rPr sz="2325" b="0">
                <a:solidFill>
                  <a:srgbClr val="172E40"/>
                </a:solidFill>
                <a:latin typeface="Arial"/>
                <a:ea typeface="Arial"/>
                <a:cs typeface="Arial"/>
              </a:rPr>
              <a:t>Choose the model on validation data. Check stability, response length and uncertainty.</a:t>
            </a:r>
          </a:p>
        </p:txBody>
      </p:sp>
      <p:sp>
        <p:nvSpPr>
          <p:cNvPr id="30" name="Results and interpretation">
            <a:extLst xmlns:a="http://schemas.openxmlformats.org/drawingml/2006/main">
              <a:ext uri="{FF2B5EF4-FFF2-40B4-BE49-F238E27FC236}">
                <a16:creationId xmlns:a16="http://schemas.microsoft.com/office/drawing/2014/main" id="{56ACAB25-6495-4D5B-B40B-A4F53AD5AEC6}"/>
              </a:ext>
            </a:extLst>
          </p:cNvPr>
          <p:cNvSpPr>
            <a:spLocks xmlns:a="http://schemas.openxmlformats.org/drawingml/2006/main" noGrp="1"/>
          </p:cNvSpPr>
          <p:nvPr/>
        </p:nvSpPr>
        <p:spPr>
          <a:xfrm xmlns:a="http://schemas.openxmlformats.org/drawingml/2006/main">
            <a:off x="20288250" y="3752850"/>
            <a:ext cx="890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87E83"/>
                </a:solidFill>
                <a:latin typeface="Arial"/>
                <a:ea typeface="Arial"/>
                <a:cs typeface="Arial"/>
              </a:defRPr>
            </a:pPr>
            <a:r>
              <a:rPr sz="3300" b="1">
                <a:solidFill>
                  <a:srgbClr val="087E83"/>
                </a:solidFill>
                <a:latin typeface="Arial"/>
                <a:ea typeface="Arial"/>
                <a:cs typeface="Arial"/>
              </a:rPr>
              <a:t>Results and interpretation</a:t>
            </a:r>
          </a:p>
        </p:txBody>
      </p:sp>
      <p:sp>
        <p:nvSpPr>
          <p:cNvPr id="31" name="">
            <a:extLst xmlns:a="http://schemas.openxmlformats.org/drawingml/2006/main">
              <a:ext uri="{FF2B5EF4-FFF2-40B4-BE49-F238E27FC236}">
                <a16:creationId xmlns:a16="http://schemas.microsoft.com/office/drawing/2014/main" id="{3A536393-43F1-4C48-B204-2A9D96EF8588}"/>
              </a:ext>
            </a:extLst>
          </p:cNvPr>
          <p:cNvSpPr>
            <a:spLocks xmlns:a="http://schemas.openxmlformats.org/drawingml/2006/main" noGrp="1"/>
          </p:cNvSpPr>
          <p:nvPr/>
        </p:nvSpPr>
        <p:spPr>
          <a:xfrm xmlns:a="http://schemas.openxmlformats.org/drawingml/2006/main">
            <a:off x="20288250" y="4400550"/>
            <a:ext cx="8905875" cy="0"/>
          </a:xfrm>
          <a:prstGeom xmlns:a="http://schemas.openxmlformats.org/drawingml/2006/main" prst="line">
            <a:avLst/>
          </a:prstGeom>
          <a:noFill xmlns:a="http://schemas.openxmlformats.org/drawingml/2006/main"/>
          <a:ln xmlns:a="http://schemas.openxmlformats.org/drawingml/2006/main" w="19050">
            <a:solidFill>
              <a:srgbClr val="D2DEE3"/>
            </a:solidFill>
          </a:ln>
        </p:spPr>
      </p:sp>
      <p:sp>
        <p:nvSpPr>
          <p:cNvPr id="32" name="chart-description">
            <a:extLst xmlns:a="http://schemas.openxmlformats.org/drawingml/2006/main">
              <a:ext uri="{FF2B5EF4-FFF2-40B4-BE49-F238E27FC236}">
                <a16:creationId xmlns:a16="http://schemas.microsoft.com/office/drawing/2014/main" id="{BCF50A62-1B36-4A9F-90A9-ABB59238F9BD}"/>
              </a:ext>
            </a:extLst>
          </p:cNvPr>
          <p:cNvSpPr>
            <a:spLocks xmlns:a="http://schemas.openxmlformats.org/drawingml/2006/main" noGrp="1"/>
          </p:cNvSpPr>
          <p:nvPr/>
        </p:nvSpPr>
        <p:spPr>
          <a:xfrm xmlns:a="http://schemas.openxmlformats.org/drawingml/2006/main">
            <a:off x="20288250" y="4629150"/>
            <a:ext cx="890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72E40"/>
                </a:solidFill>
                <a:latin typeface="Arial"/>
                <a:ea typeface="Arial"/>
                <a:cs typeface="Arial"/>
              </a:defRPr>
            </a:pPr>
            <a:r>
              <a:rPr sz="2325" b="1">
                <a:solidFill>
                  <a:srgbClr val="172E40"/>
                </a:solidFill>
                <a:latin typeface="Arial"/>
                <a:ea typeface="Arial"/>
                <a:cs typeface="Arial"/>
              </a:rPr>
              <a:t>Interview prediction: higher correlation is better</a:t>
            </a:r>
          </a:p>
        </p:txBody>
      </p:sp>
      <p:graphicFrame>
        <p:nvGraphicFramePr>
          <p:cNvPr id="79" name="Chart"/>
          <p:cNvGraphicFramePr/>
          <p:nvPr/>
        </p:nvGraphicFramePr>
        <p:xfrm>
          <a:off xmlns:a="http://schemas.openxmlformats.org/drawingml/2006/main" x="20173950" y="5181600"/>
          <a:ext xmlns:a="http://schemas.openxmlformats.org/drawingml/2006/main" cx="9144000" cy="4238625"/>
        </p:xfrm>
        <a:graphic xmlns:a="http://schemas.openxmlformats.org/drawingml/2006/main">
          <a:graphicData uri="http://schemas.openxmlformats.org/drawingml/2006/chart">
            <c:chart xmlns:r="http://schemas.openxmlformats.org/officeDocument/2006/relationships" xmlns:c="http://schemas.openxmlformats.org/drawingml/2006/chart" r:id="R93d7676ff04f4aea"/>
          </a:graphicData>
        </a:graphic>
      </p:graphicFrame>
      <p:sp>
        <p:nvSpPr>
          <p:cNvPr id="34" name="metric-note">
            <a:extLst xmlns:a="http://schemas.openxmlformats.org/drawingml/2006/main">
              <a:ext uri="{FF2B5EF4-FFF2-40B4-BE49-F238E27FC236}">
                <a16:creationId xmlns:a16="http://schemas.microsoft.com/office/drawing/2014/main" id="{E2CB6205-51E7-4B13-836D-5001358946D1}"/>
              </a:ext>
            </a:extLst>
          </p:cNvPr>
          <p:cNvSpPr>
            <a:spLocks xmlns:a="http://schemas.openxmlformats.org/drawingml/2006/main" noGrp="1"/>
          </p:cNvSpPr>
          <p:nvPr/>
        </p:nvSpPr>
        <p:spPr>
          <a:xfrm xmlns:a="http://schemas.openxmlformats.org/drawingml/2006/main">
            <a:off x="20288250" y="9544050"/>
            <a:ext cx="89058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556772"/>
                </a:solidFill>
                <a:latin typeface="Arial"/>
                <a:ea typeface="Arial"/>
                <a:cs typeface="Arial"/>
              </a:defRPr>
            </a:pPr>
            <a:r>
              <a:rPr sz="2250" b="0">
                <a:solidFill>
                  <a:srgbClr val="556772"/>
                </a:solidFill>
                <a:latin typeface="Arial"/>
                <a:ea typeface="Arial"/>
                <a:cs typeface="Arial"/>
              </a:rPr>
              <a:t>Spearman correlation, not percentage accuracy.</a:t>
            </a:r>
          </a:p>
          <a:p xmlns:a="http://schemas.openxmlformats.org/drawingml/2006/main">
            <a:pPr>
              <a:defRPr sz="2250" b="0">
                <a:solidFill>
                  <a:srgbClr val="556772"/>
                </a:solidFill>
                <a:latin typeface="Arial"/>
                <a:ea typeface="Arial"/>
                <a:cs typeface="Arial"/>
              </a:defRPr>
            </a:pPr>
            <a:r>
              <a:rPr sz="2250" b="0">
                <a:solidFill>
                  <a:srgbClr val="556772"/>
                </a:solidFill>
                <a:latin typeface="Arial"/>
                <a:ea typeface="Arial"/>
                <a:cs typeface="Arial"/>
              </a:rPr>
              <a:t>Test: 292 responses from 49 participants.</a:t>
            </a:r>
          </a:p>
        </p:txBody>
      </p:sp>
      <p:sp>
        <p:nvSpPr>
          <p:cNvPr id="35" name="published">
            <a:extLst xmlns:a="http://schemas.openxmlformats.org/drawingml/2006/main">
              <a:ext uri="{FF2B5EF4-FFF2-40B4-BE49-F238E27FC236}">
                <a16:creationId xmlns:a16="http://schemas.microsoft.com/office/drawing/2014/main" id="{2712D260-0BE5-4808-8BC1-3F7E295C0C49}"/>
              </a:ext>
            </a:extLst>
          </p:cNvPr>
          <p:cNvSpPr>
            <a:spLocks xmlns:a="http://schemas.openxmlformats.org/drawingml/2006/main" noGrp="1"/>
          </p:cNvSpPr>
          <p:nvPr/>
        </p:nvSpPr>
        <p:spPr>
          <a:xfrm xmlns:a="http://schemas.openxmlformats.org/drawingml/2006/main">
            <a:off x="20288250" y="10763250"/>
            <a:ext cx="890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Published paper comparison [1]</a:t>
            </a:r>
          </a:p>
        </p:txBody>
      </p:sp>
      <p:sp>
        <p:nvSpPr>
          <p:cNvPr id="36" name="paper-values">
            <a:extLst xmlns:a="http://schemas.openxmlformats.org/drawingml/2006/main">
              <a:ext uri="{FF2B5EF4-FFF2-40B4-BE49-F238E27FC236}">
                <a16:creationId xmlns:a16="http://schemas.microsoft.com/office/drawing/2014/main" id="{85DF07D1-49F5-4948-96E2-31506963E565}"/>
              </a:ext>
            </a:extLst>
          </p:cNvPr>
          <p:cNvSpPr>
            <a:spLocks xmlns:a="http://schemas.openxmlformats.org/drawingml/2006/main" noGrp="1"/>
          </p:cNvSpPr>
          <p:nvPr/>
        </p:nvSpPr>
        <p:spPr>
          <a:xfrm xmlns:a="http://schemas.openxmlformats.org/drawingml/2006/main">
            <a:off x="20288250" y="11287125"/>
            <a:ext cx="89058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E40"/>
                </a:solidFill>
                <a:latin typeface="Arial"/>
                <a:ea typeface="Arial"/>
                <a:cs typeface="Arial"/>
              </a:defRPr>
            </a:pPr>
            <a:r>
              <a:rPr sz="2325" b="0">
                <a:solidFill>
                  <a:srgbClr val="172E40"/>
                </a:solidFill>
                <a:latin typeface="Arial"/>
                <a:ea typeface="Arial"/>
                <a:cs typeface="Arial"/>
              </a:rPr>
              <a:t>CRMF: Big Five 0.523; speaking skills 0.595.</a:t>
            </a:r>
          </a:p>
          <a:p xmlns:a="http://schemas.openxmlformats.org/drawingml/2006/main">
            <a:pPr>
              <a:defRPr sz="2325" b="0">
                <a:solidFill>
                  <a:srgbClr val="172E40"/>
                </a:solidFill>
                <a:latin typeface="Arial"/>
                <a:ea typeface="Arial"/>
                <a:cs typeface="Arial"/>
              </a:defRPr>
            </a:pPr>
            <a:r>
              <a:rPr sz="2325" b="0">
                <a:solidFill>
                  <a:srgbClr val="172E40"/>
                </a:solidFill>
                <a:latin typeface="Arial"/>
                <a:ea typeface="Arial"/>
                <a:cs typeface="Arial"/>
              </a:rPr>
              <a:t>The paper also uses video and a different split. This is a contextual comparison, not a reproduction.</a:t>
            </a:r>
          </a:p>
        </p:txBody>
      </p:sp>
      <p:sp>
        <p:nvSpPr>
          <p:cNvPr id="37" name="bessi-result">
            <a:extLst xmlns:a="http://schemas.openxmlformats.org/drawingml/2006/main">
              <a:ext uri="{FF2B5EF4-FFF2-40B4-BE49-F238E27FC236}">
                <a16:creationId xmlns:a16="http://schemas.microsoft.com/office/drawing/2014/main" id="{96304307-F699-4D18-A1B1-BAD50B7CF572}"/>
              </a:ext>
            </a:extLst>
          </p:cNvPr>
          <p:cNvSpPr>
            <a:spLocks xmlns:a="http://schemas.openxmlformats.org/drawingml/2006/main" noGrp="1"/>
          </p:cNvSpPr>
          <p:nvPr/>
        </p:nvSpPr>
        <p:spPr>
          <a:xfrm xmlns:a="http://schemas.openxmlformats.org/drawingml/2006/main">
            <a:off x="20288250" y="12934950"/>
            <a:ext cx="890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Separate BESSI mapping</a:t>
            </a:r>
          </a:p>
        </p:txBody>
      </p:sp>
      <p:sp>
        <p:nvSpPr>
          <p:cNvPr id="38" name="mapping-values">
            <a:extLst xmlns:a="http://schemas.openxmlformats.org/drawingml/2006/main">
              <a:ext uri="{FF2B5EF4-FFF2-40B4-BE49-F238E27FC236}">
                <a16:creationId xmlns:a16="http://schemas.microsoft.com/office/drawing/2014/main" id="{74B06858-D152-4E92-A405-0C3E50106F75}"/>
              </a:ext>
            </a:extLst>
          </p:cNvPr>
          <p:cNvSpPr>
            <a:spLocks xmlns:a="http://schemas.openxmlformats.org/drawingml/2006/main" noGrp="1"/>
          </p:cNvSpPr>
          <p:nvPr/>
        </p:nvSpPr>
        <p:spPr>
          <a:xfrm xmlns:a="http://schemas.openxmlformats.org/drawingml/2006/main">
            <a:off x="20288250" y="13477875"/>
            <a:ext cx="890587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E40"/>
                </a:solidFill>
                <a:latin typeface="Arial"/>
                <a:ea typeface="Arial"/>
                <a:cs typeface="Arial"/>
              </a:defRPr>
            </a:pPr>
            <a:r>
              <a:rPr sz="2325" b="0">
                <a:solidFill>
                  <a:srgbClr val="172E40"/>
                </a:solidFill>
                <a:latin typeface="Arial"/>
                <a:ea typeface="Arial"/>
                <a:cs typeface="Arial"/>
              </a:rPr>
              <a:t>Mean R² = 0.504 on 47 test rows. Participant independence is unverified. This is not the accuracy of the full interview-to-skills pipeline.</a:t>
            </a:r>
          </a:p>
        </p:txBody>
      </p:sp>
      <p:sp>
        <p:nvSpPr>
          <p:cNvPr id="39" name="main-finding">
            <a:extLst xmlns:a="http://schemas.openxmlformats.org/drawingml/2006/main">
              <a:ext uri="{FF2B5EF4-FFF2-40B4-BE49-F238E27FC236}">
                <a16:creationId xmlns:a16="http://schemas.microsoft.com/office/drawing/2014/main" id="{BF29DEB4-81EF-42BA-B1EB-2978B9B75C68}"/>
              </a:ext>
            </a:extLst>
          </p:cNvPr>
          <p:cNvSpPr>
            <a:spLocks xmlns:a="http://schemas.openxmlformats.org/drawingml/2006/main" noGrp="1"/>
          </p:cNvSpPr>
          <p:nvPr/>
        </p:nvSpPr>
        <p:spPr>
          <a:xfrm xmlns:a="http://schemas.openxmlformats.org/drawingml/2006/main">
            <a:off x="20288250" y="15097125"/>
            <a:ext cx="890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Main finding</a:t>
            </a:r>
          </a:p>
        </p:txBody>
      </p:sp>
      <p:sp>
        <p:nvSpPr>
          <p:cNvPr id="40" name="conclusion">
            <a:extLst xmlns:a="http://schemas.openxmlformats.org/drawingml/2006/main">
              <a:ext uri="{FF2B5EF4-FFF2-40B4-BE49-F238E27FC236}">
                <a16:creationId xmlns:a16="http://schemas.microsoft.com/office/drawing/2014/main" id="{8BDAD0CD-2A4C-4EAA-A2D0-68ACDE755AF0}"/>
              </a:ext>
            </a:extLst>
          </p:cNvPr>
          <p:cNvSpPr>
            <a:spLocks xmlns:a="http://schemas.openxmlformats.org/drawingml/2006/main" noGrp="1"/>
          </p:cNvSpPr>
          <p:nvPr/>
        </p:nvSpPr>
        <p:spPr>
          <a:xfrm xmlns:a="http://schemas.openxmlformats.org/drawingml/2006/main">
            <a:off x="20288250" y="15649575"/>
            <a:ext cx="890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The compact model predicts useful patterns. Extra benefit over response length remains uncertain: 95% intervals for the improvements include zero.</a:t>
            </a:r>
          </a:p>
        </p:txBody>
      </p:sp>
      <p:sp>
        <p:nvSpPr>
          <p:cNvPr id="41" name="">
            <a:extLst xmlns:a="http://schemas.openxmlformats.org/drawingml/2006/main">
              <a:ext uri="{FF2B5EF4-FFF2-40B4-BE49-F238E27FC236}">
                <a16:creationId xmlns:a16="http://schemas.microsoft.com/office/drawing/2014/main" id="{8B39035D-564C-4EE1-90A4-020AEA6ACDF4}"/>
              </a:ext>
            </a:extLst>
          </p:cNvPr>
          <p:cNvSpPr>
            <a:spLocks xmlns:a="http://schemas.openxmlformats.org/drawingml/2006/main" noGrp="1"/>
          </p:cNvSpPr>
          <p:nvPr/>
        </p:nvSpPr>
        <p:spPr>
          <a:xfrm xmlns:a="http://schemas.openxmlformats.org/drawingml/2006/main">
            <a:off x="857250" y="17526000"/>
            <a:ext cx="28555950" cy="0"/>
          </a:xfrm>
          <a:prstGeom xmlns:a="http://schemas.openxmlformats.org/drawingml/2006/main" prst="line">
            <a:avLst/>
          </a:prstGeom>
          <a:noFill xmlns:a="http://schemas.openxmlformats.org/drawingml/2006/main"/>
          <a:ln xmlns:a="http://schemas.openxmlformats.org/drawingml/2006/main" w="19050">
            <a:solidFill>
              <a:srgbClr val="D2DEE3"/>
            </a:solidFill>
          </a:ln>
        </p:spPr>
      </p:sp>
      <p:sp>
        <p:nvSpPr>
          <p:cNvPr id="42" name="progress-heading">
            <a:extLst xmlns:a="http://schemas.openxmlformats.org/drawingml/2006/main">
              <a:ext uri="{FF2B5EF4-FFF2-40B4-BE49-F238E27FC236}">
                <a16:creationId xmlns:a16="http://schemas.microsoft.com/office/drawing/2014/main" id="{B2DB37DA-520A-48A8-9F17-F87C8E46E459}"/>
              </a:ext>
            </a:extLst>
          </p:cNvPr>
          <p:cNvSpPr>
            <a:spLocks xmlns:a="http://schemas.openxmlformats.org/drawingml/2006/main" noGrp="1"/>
          </p:cNvSpPr>
          <p:nvPr/>
        </p:nvSpPr>
        <p:spPr>
          <a:xfrm xmlns:a="http://schemas.openxmlformats.org/drawingml/2006/main">
            <a:off x="857250" y="17811750"/>
            <a:ext cx="1190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087E83"/>
                </a:solidFill>
                <a:latin typeface="Arial"/>
                <a:ea typeface="Arial"/>
                <a:cs typeface="Arial"/>
              </a:defRPr>
            </a:pPr>
            <a:r>
              <a:rPr sz="2850" b="1">
                <a:solidFill>
                  <a:srgbClr val="087E83"/>
                </a:solidFill>
                <a:latin typeface="Arial"/>
                <a:ea typeface="Arial"/>
                <a:cs typeface="Arial"/>
              </a:rPr>
              <a:t>Progress and completion plan</a:t>
            </a:r>
          </a:p>
        </p:txBody>
      </p:sp>
      <p:sp>
        <p:nvSpPr>
          <p:cNvPr id="43" name="progress">
            <a:extLst xmlns:a="http://schemas.openxmlformats.org/drawingml/2006/main">
              <a:ext uri="{FF2B5EF4-FFF2-40B4-BE49-F238E27FC236}">
                <a16:creationId xmlns:a16="http://schemas.microsoft.com/office/drawing/2014/main" id="{C119CA86-44CB-4437-A550-FA532132DE90}"/>
              </a:ext>
            </a:extLst>
          </p:cNvPr>
          <p:cNvSpPr>
            <a:spLocks xmlns:a="http://schemas.openxmlformats.org/drawingml/2006/main" noGrp="1"/>
          </p:cNvSpPr>
          <p:nvPr/>
        </p:nvSpPr>
        <p:spPr>
          <a:xfrm xmlns:a="http://schemas.openxmlformats.org/drawingml/2006/main">
            <a:off x="857250" y="18430875"/>
            <a:ext cx="12287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E40"/>
                </a:solidFill>
                <a:latin typeface="Arial"/>
                <a:ea typeface="Arial"/>
                <a:cs typeface="Arial"/>
              </a:defRPr>
            </a:pPr>
            <a:r>
              <a:rPr sz="2250" b="0">
                <a:solidFill>
                  <a:srgbClr val="172E40"/>
                </a:solidFill>
                <a:latin typeface="Arial"/>
                <a:ea typeface="Arial"/>
                <a:cs typeface="Arial"/>
              </a:rPr>
              <a:t>Completed: data, models, comparisons and final checks.</a:t>
            </a:r>
          </a:p>
          <a:p xmlns:a="http://schemas.openxmlformats.org/drawingml/2006/main">
            <a:pPr>
              <a:defRPr sz="2250" b="0">
                <a:solidFill>
                  <a:srgbClr val="172E40"/>
                </a:solidFill>
                <a:latin typeface="Arial"/>
                <a:ea typeface="Arial"/>
                <a:cs typeface="Arial"/>
              </a:defRPr>
            </a:pPr>
            <a:r>
              <a:rPr sz="2250" b="0">
                <a:solidFill>
                  <a:srgbClr val="172E40"/>
                </a:solidFill>
                <a:latin typeface="Arial"/>
                <a:ea typeface="Arial"/>
                <a:cs typeface="Arial"/>
              </a:rPr>
              <a:t>Poster deadline: 16 September 2026. Proposed plan at right.</a:t>
            </a:r>
          </a:p>
          <a:p xmlns:a="http://schemas.openxmlformats.org/drawingml/2006/main">
            <a:pPr>
              <a:defRPr sz="2250" b="0">
                <a:solidFill>
                  <a:srgbClr val="172E40"/>
                </a:solidFill>
                <a:latin typeface="Arial"/>
                <a:ea typeface="Arial"/>
                <a:cs typeface="Arial"/>
              </a:defRPr>
            </a:pPr>
            <a:r>
              <a:rPr sz="2250" b="0">
                <a:solidFill>
                  <a:srgbClr val="172E40"/>
                </a:solidFill>
                <a:latin typeface="Arial"/>
                <a:ea typeface="Arial"/>
                <a:cs typeface="Arial"/>
              </a:rPr>
              <a:t>Dissertation writing and review remain; dates to confirm.</a:t>
            </a:r>
          </a:p>
        </p:txBody>
      </p:sp>
      <p:graphicFrame>
        <p:nvGraphicFramePr>
          <p:cNvPr id="90" name=""/>
          <p:cNvGraphicFramePr/>
          <p:nvPr/>
        </p:nvGraphicFramePr>
        <p:xfrm>
          <a:off xmlns:a="http://schemas.openxmlformats.org/drawingml/2006/main" x="14097000" y="17811750"/>
          <a:ext xmlns:a="http://schemas.openxmlformats.org/drawingml/2006/main" cx="15306675" cy="1905000"/>
        </p:xfrm>
        <a:graphic xmlns:a="http://schemas.openxmlformats.org/drawingml/2006/main">
          <a:graphicData uri="http://schemas.openxmlformats.org/drawingml/2006/table">
            <a:tbl>
              <a:tblPr/>
              <a:tblGrid>
                <a:gridCol w="7305675"/>
                <a:gridCol w="2667000"/>
                <a:gridCol w="2667000"/>
                <a:gridCol w="2667000"/>
              </a:tblGrid>
              <a:tr h="476250">
                <a:tc>
                  <a:txBody>
                    <a:bodyPr/>
                    <a:lstStyle/>
                    <a:p>
                      <a:r>
                        <a:rPr sz="2025" b="1">
                          <a:solidFill>
                            <a:srgbClr val="172E40"/>
                          </a:solidFill>
                          <a:latin typeface="Arial"/>
                          <a:ea typeface="Arial"/>
                          <a:cs typeface="Arial"/>
                        </a:rPr>
                        <a:t>Poster completion</a:t>
                      </a:r>
                    </a:p>
                  </a:txBody>
                  <a:tcPr marL="91440" marR="91440" marT="45720" marB="45720">
                    <a:solidFill>
                      <a:srgbClr val="EAF4F4"/>
                    </a:solidFill>
                  </a:tcPr>
                </a:tc>
                <a:tc>
                  <a:txBody>
                    <a:bodyPr/>
                    <a:lstStyle/>
                    <a:p>
                      <a:r>
                        <a:rPr sz="2025" b="1">
                          <a:solidFill>
                            <a:srgbClr val="172E40"/>
                          </a:solidFill>
                          <a:latin typeface="Arial"/>
                          <a:ea typeface="Arial"/>
                          <a:cs typeface="Arial"/>
                        </a:rPr>
                        <a:t>11-12 Sep</a:t>
                      </a:r>
                    </a:p>
                  </a:txBody>
                  <a:tcPr marL="91440" marR="91440" marT="45720" marB="45720">
                    <a:solidFill>
                      <a:srgbClr val="EAF4F4"/>
                    </a:solidFill>
                  </a:tcPr>
                </a:tc>
                <a:tc>
                  <a:txBody>
                    <a:bodyPr/>
                    <a:lstStyle/>
                    <a:p>
                      <a:r>
                        <a:rPr sz="2025" b="1">
                          <a:solidFill>
                            <a:srgbClr val="172E40"/>
                          </a:solidFill>
                          <a:latin typeface="Arial"/>
                          <a:ea typeface="Arial"/>
                          <a:cs typeface="Arial"/>
                        </a:rPr>
                        <a:t>13-14 Sep</a:t>
                      </a:r>
                    </a:p>
                  </a:txBody>
                  <a:tcPr marL="91440" marR="91440" marT="45720" marB="45720">
                    <a:solidFill>
                      <a:srgbClr val="EAF4F4"/>
                    </a:solidFill>
                  </a:tcPr>
                </a:tc>
                <a:tc>
                  <a:txBody>
                    <a:bodyPr/>
                    <a:lstStyle/>
                    <a:p>
                      <a:r>
                        <a:rPr sz="2025" b="1">
                          <a:solidFill>
                            <a:srgbClr val="172E40"/>
                          </a:solidFill>
                          <a:latin typeface="Arial"/>
                          <a:ea typeface="Arial"/>
                          <a:cs typeface="Arial"/>
                        </a:rPr>
                        <a:t>15-16 Sep</a:t>
                      </a:r>
                    </a:p>
                  </a:txBody>
                  <a:tcPr marL="91440" marR="91440" marT="45720" marB="45720">
                    <a:solidFill>
                      <a:srgbClr val="EAF4F4"/>
                    </a:solidFill>
                  </a:tcPr>
                </a:tc>
              </a:tr>
              <a:tr h="476250">
                <a:tc>
                  <a:txBody>
                    <a:bodyPr/>
                    <a:lstStyle/>
                    <a:p>
                      <a:r>
                        <a:rPr sz="2025" b="0">
                          <a:solidFill>
                            <a:srgbClr val="172E40"/>
                          </a:solidFill>
                          <a:latin typeface="Arial"/>
                          <a:ea typeface="Arial"/>
                          <a:cs typeface="Arial"/>
                        </a:rPr>
                        <a:t>Prepare content and layout</a:t>
                      </a:r>
                    </a:p>
                  </a:txBody>
                  <a:tcPr marL="91440" marR="91440" marT="45720" marB="45720">
                    <a:solidFill>
                      <a:srgbClr val="FFFFFF"/>
                    </a:solidFill>
                  </a:tcPr>
                </a:tc>
                <a:tc>
                  <a:txBody>
                    <a:bodyPr/>
                    <a:lstStyle/>
                    <a:p>
                      <a:r>
                        <a:rPr sz="2025" b="0">
                          <a:solidFill>
                            <a:srgbClr val="172E40"/>
                          </a:solidFill>
                          <a:latin typeface="Arial"/>
                          <a:ea typeface="Arial"/>
                          <a:cs typeface="Arial"/>
                        </a:rPr>
                        <a:t>Planned</a:t>
                      </a:r>
                    </a:p>
                  </a:txBody>
                  <a:tcPr marL="91440" marR="91440" marT="45720" marB="45720">
                    <a:solidFill>
                      <a:srgbClr val="EFF5F8"/>
                    </a:solidFill>
                  </a:tcPr>
                </a:tc>
                <a:tc>
                  <a:txBody>
                    <a:bodyPr/>
                    <a:lstStyle/>
                    <a:p>
                      <a:r>
                        <a:rPr sz="2025" b="0">
                          <a:solidFill>
                            <a:srgbClr val="172E40"/>
                          </a:solidFill>
                          <a:latin typeface="Arial"/>
                          <a:ea typeface="Arial"/>
                          <a:cs typeface="Arial"/>
                        </a:rPr>
                        <a:t/>
                      </a:r>
                    </a:p>
                  </a:txBody>
                  <a:tcPr marL="91440" marR="91440" marT="45720" marB="45720">
                    <a:solidFill>
                      <a:srgbClr val="FFFFFF"/>
                    </a:solidFill>
                  </a:tcPr>
                </a:tc>
                <a:tc>
                  <a:txBody>
                    <a:bodyPr/>
                    <a:lstStyle/>
                    <a:p>
                      <a:r>
                        <a:rPr sz="2025" b="0">
                          <a:solidFill>
                            <a:srgbClr val="172E40"/>
                          </a:solidFill>
                          <a:latin typeface="Arial"/>
                          <a:ea typeface="Arial"/>
                          <a:cs typeface="Arial"/>
                        </a:rPr>
                        <a:t/>
                      </a:r>
                    </a:p>
                  </a:txBody>
                  <a:tcPr marL="91440" marR="91440" marT="45720" marB="45720">
                    <a:solidFill>
                      <a:srgbClr val="FFFFFF"/>
                    </a:solidFill>
                  </a:tcPr>
                </a:tc>
              </a:tr>
              <a:tr h="476250">
                <a:tc>
                  <a:txBody>
                    <a:bodyPr/>
                    <a:lstStyle/>
                    <a:p>
                      <a:r>
                        <a:rPr sz="2025" b="0">
                          <a:solidFill>
                            <a:srgbClr val="172E40"/>
                          </a:solidFill>
                          <a:latin typeface="Arial"/>
                          <a:ea typeface="Arial"/>
                          <a:cs typeface="Arial"/>
                        </a:rPr>
                        <a:t>Seek feedback and revise</a:t>
                      </a:r>
                    </a:p>
                  </a:txBody>
                  <a:tcPr marL="91440" marR="91440" marT="45720" marB="45720">
                    <a:solidFill>
                      <a:srgbClr val="FFFFFF"/>
                    </a:solidFill>
                  </a:tcPr>
                </a:tc>
                <a:tc>
                  <a:txBody>
                    <a:bodyPr/>
                    <a:lstStyle/>
                    <a:p>
                      <a:r>
                        <a:rPr sz="2025" b="0">
                          <a:solidFill>
                            <a:srgbClr val="172E40"/>
                          </a:solidFill>
                          <a:latin typeface="Arial"/>
                          <a:ea typeface="Arial"/>
                          <a:cs typeface="Arial"/>
                        </a:rPr>
                        <a:t/>
                      </a:r>
                    </a:p>
                  </a:txBody>
                  <a:tcPr marL="91440" marR="91440" marT="45720" marB="45720">
                    <a:solidFill>
                      <a:srgbClr val="FFFFFF"/>
                    </a:solidFill>
                  </a:tcPr>
                </a:tc>
                <a:tc>
                  <a:txBody>
                    <a:bodyPr/>
                    <a:lstStyle/>
                    <a:p>
                      <a:r>
                        <a:rPr sz="2025" b="0">
                          <a:solidFill>
                            <a:srgbClr val="172E40"/>
                          </a:solidFill>
                          <a:latin typeface="Arial"/>
                          <a:ea typeface="Arial"/>
                          <a:cs typeface="Arial"/>
                        </a:rPr>
                        <a:t>Planned</a:t>
                      </a:r>
                    </a:p>
                  </a:txBody>
                  <a:tcPr marL="91440" marR="91440" marT="45720" marB="45720">
                    <a:solidFill>
                      <a:srgbClr val="EFF5F8"/>
                    </a:solidFill>
                  </a:tcPr>
                </a:tc>
                <a:tc>
                  <a:txBody>
                    <a:bodyPr/>
                    <a:lstStyle/>
                    <a:p>
                      <a:r>
                        <a:rPr sz="2025" b="0">
                          <a:solidFill>
                            <a:srgbClr val="172E40"/>
                          </a:solidFill>
                          <a:latin typeface="Arial"/>
                          <a:ea typeface="Arial"/>
                          <a:cs typeface="Arial"/>
                        </a:rPr>
                        <a:t/>
                      </a:r>
                    </a:p>
                  </a:txBody>
                  <a:tcPr marL="91440" marR="91440" marT="45720" marB="45720">
                    <a:solidFill>
                      <a:srgbClr val="FFFFFF"/>
                    </a:solidFill>
                  </a:tcPr>
                </a:tc>
              </a:tr>
              <a:tr h="476250">
                <a:tc>
                  <a:txBody>
                    <a:bodyPr/>
                    <a:lstStyle/>
                    <a:p>
                      <a:r>
                        <a:rPr sz="2025" b="0">
                          <a:solidFill>
                            <a:srgbClr val="172E40"/>
                          </a:solidFill>
                          <a:latin typeface="Arial"/>
                          <a:ea typeface="Arial"/>
                          <a:cs typeface="Arial"/>
                        </a:rPr>
                        <a:t>Final checks and submit PDF</a:t>
                      </a:r>
                    </a:p>
                  </a:txBody>
                  <a:tcPr marL="91440" marR="91440" marT="45720" marB="45720">
                    <a:solidFill>
                      <a:srgbClr val="FFFFFF"/>
                    </a:solidFill>
                  </a:tcPr>
                </a:tc>
                <a:tc>
                  <a:txBody>
                    <a:bodyPr/>
                    <a:lstStyle/>
                    <a:p>
                      <a:r>
                        <a:rPr sz="2025" b="0">
                          <a:solidFill>
                            <a:srgbClr val="172E40"/>
                          </a:solidFill>
                          <a:latin typeface="Arial"/>
                          <a:ea typeface="Arial"/>
                          <a:cs typeface="Arial"/>
                        </a:rPr>
                        <a:t/>
                      </a:r>
                    </a:p>
                  </a:txBody>
                  <a:tcPr marL="91440" marR="91440" marT="45720" marB="45720">
                    <a:solidFill>
                      <a:srgbClr val="FFFFFF"/>
                    </a:solidFill>
                  </a:tcPr>
                </a:tc>
                <a:tc>
                  <a:txBody>
                    <a:bodyPr/>
                    <a:lstStyle/>
                    <a:p>
                      <a:r>
                        <a:rPr sz="2025" b="0">
                          <a:solidFill>
                            <a:srgbClr val="172E40"/>
                          </a:solidFill>
                          <a:latin typeface="Arial"/>
                          <a:ea typeface="Arial"/>
                          <a:cs typeface="Arial"/>
                        </a:rPr>
                        <a:t/>
                      </a:r>
                    </a:p>
                  </a:txBody>
                  <a:tcPr marL="91440" marR="91440" marT="45720" marB="45720">
                    <a:solidFill>
                      <a:srgbClr val="FFFFFF"/>
                    </a:solidFill>
                  </a:tcPr>
                </a:tc>
                <a:tc>
                  <a:txBody>
                    <a:bodyPr/>
                    <a:lstStyle/>
                    <a:p>
                      <a:r>
                        <a:rPr sz="2025" b="0">
                          <a:solidFill>
                            <a:srgbClr val="172E40"/>
                          </a:solidFill>
                          <a:latin typeface="Arial"/>
                          <a:ea typeface="Arial"/>
                          <a:cs typeface="Arial"/>
                        </a:rPr>
                        <a:t>Planned</a:t>
                      </a:r>
                    </a:p>
                  </a:txBody>
                  <a:tcPr marL="91440" marR="91440" marT="45720" marB="45720">
                    <a:solidFill>
                      <a:srgbClr val="EFF5F8"/>
                    </a:solidFill>
                  </a:tcPr>
                </a:tc>
              </a:tr>
            </a:tbl>
          </a:graphicData>
        </a:graphic>
      </p:graphicFrame>
      <p:sp>
        <p:nvSpPr>
          <p:cNvPr id="45" name="limits">
            <a:extLst xmlns:a="http://schemas.openxmlformats.org/drawingml/2006/main">
              <a:ext uri="{FF2B5EF4-FFF2-40B4-BE49-F238E27FC236}">
                <a16:creationId xmlns:a16="http://schemas.microsoft.com/office/drawing/2014/main" id="{3A15BF1E-C949-4619-AFBF-69BF57510BE5}"/>
              </a:ext>
            </a:extLst>
          </p:cNvPr>
          <p:cNvSpPr>
            <a:spLocks xmlns:a="http://schemas.openxmlformats.org/drawingml/2006/main" noGrp="1"/>
          </p:cNvSpPr>
          <p:nvPr/>
        </p:nvSpPr>
        <p:spPr>
          <a:xfrm xmlns:a="http://schemas.openxmlformats.org/drawingml/2006/main">
            <a:off x="857250" y="19907250"/>
            <a:ext cx="28555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56772"/>
                </a:solidFill>
                <a:latin typeface="Arial"/>
                <a:ea typeface="Arial"/>
                <a:cs typeface="Arial"/>
              </a:defRPr>
            </a:pPr>
            <a:r>
              <a:rPr sz="2025" b="0">
                <a:solidFill>
                  <a:srgbClr val="556772"/>
                </a:solidFill>
                <a:latin typeface="Arial"/>
                <a:ea typeface="Arial"/>
                <a:cs typeface="Arial"/>
              </a:rPr>
              <a:t>Limits: no direct BESSI labels in RecruitView; emotion cues lack independent validation; engineering-student generalisation is untested.</a:t>
            </a:r>
          </a:p>
          <a:p xmlns:a="http://schemas.openxmlformats.org/drawingml/2006/main">
            <a:pPr>
              <a:defRPr sz="2025" b="0">
                <a:solidFill>
                  <a:srgbClr val="556772"/>
                </a:solidFill>
                <a:latin typeface="Arial"/>
                <a:ea typeface="Arial"/>
                <a:cs typeface="Arial"/>
              </a:defRPr>
            </a:pPr>
            <a:r>
              <a:rPr sz="2025" b="0">
                <a:solidFill>
                  <a:srgbClr val="556772"/>
                </a:solidFill>
                <a:latin typeface="Arial"/>
                <a:ea typeface="Arial"/>
                <a:cs typeface="Arial"/>
              </a:rPr>
              <a:t>Follow-up test analyses are exploratory. Research use only; do not use these estimates for hiring decisions.</a:t>
            </a:r>
          </a:p>
        </p:txBody>
      </p:sp>
      <p:sp>
        <p:nvSpPr>
          <p:cNvPr id="46" name="references">
            <a:extLst xmlns:a="http://schemas.openxmlformats.org/drawingml/2006/main">
              <a:ext uri="{FF2B5EF4-FFF2-40B4-BE49-F238E27FC236}">
                <a16:creationId xmlns:a16="http://schemas.microsoft.com/office/drawing/2014/main" id="{BF237C65-1ED8-447E-9E09-86163AF1CA75}"/>
              </a:ext>
            </a:extLst>
          </p:cNvPr>
          <p:cNvSpPr>
            <a:spLocks xmlns:a="http://schemas.openxmlformats.org/drawingml/2006/main" noGrp="1"/>
          </p:cNvSpPr>
          <p:nvPr/>
        </p:nvSpPr>
        <p:spPr>
          <a:xfrm xmlns:a="http://schemas.openxmlformats.org/drawingml/2006/main">
            <a:off x="857250" y="20621625"/>
            <a:ext cx="2855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56772"/>
                </a:solidFill>
                <a:latin typeface="Arial"/>
                <a:ea typeface="Arial"/>
                <a:cs typeface="Arial"/>
              </a:defRPr>
            </a:pPr>
            <a:r>
              <a:rPr sz="1650" b="0">
                <a:solidFill>
                  <a:srgbClr val="556772"/>
                </a:solidFill>
                <a:latin typeface="Arial"/>
                <a:ea typeface="Arial"/>
                <a:cs typeface="Arial"/>
              </a:rPr>
              <a:t>[1] Gupta et al. (2025), RecruitView, arXiv:2512.00450.   [2] Soto et al. (2022), BESSI, doi:10.1037/pspp0000401.</a:t>
            </a:r>
          </a:p>
          <a:p xmlns:a="http://schemas.openxmlformats.org/drawingml/2006/main">
            <a:pPr>
              <a:defRPr sz="1650" b="0">
                <a:solidFill>
                  <a:srgbClr val="556772"/>
                </a:solidFill>
                <a:latin typeface="Arial"/>
                <a:ea typeface="Arial"/>
                <a:cs typeface="Arial"/>
              </a:defRPr>
            </a:pPr>
            <a:r>
              <a:rPr sz="1650" b="0">
                <a:solidFill>
                  <a:srgbClr val="556772"/>
                </a:solidFill>
                <a:latin typeface="Arial"/>
                <a:ea typeface="Arial"/>
                <a:cs typeface="Arial"/>
              </a:rPr>
              <a:t>[3] Sewell et al. (2022), Survey data of social, emotional, and behavioral skills, doi:10.1016/j.dib.2022.107792.</a:t>
            </a:r>
          </a:p>
        </p:txBody>
      </p:sp>
    </p:spTree>
    <p:extLst>
      <p:ext uri="{BB962C8B-B14F-4D97-AF65-F5344CB8AC3E}">
        <p14:creationId xmlns:p14="http://schemas.microsoft.com/office/powerpoint/2010/main" val="10051319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2026-09-11T13:50:21.2960000Z</dcterms:created>
  <dcterms:modified xsi:type="dcterms:W3CDTF">2026-09-11T13:50:21.2960000Z</dcterms:modified>
</coreProperties>
</file>